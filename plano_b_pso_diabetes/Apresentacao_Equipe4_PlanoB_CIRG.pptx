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841248"/>
            <a:ext cx="734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1">
                <a:solidFill>
                  <a:srgbClr val="203864"/>
                </a:solidFill>
                <a:latin typeface="Palatino Linotype"/>
              </a:rPr>
              <a:t>At CIRG of POLI/UPE Nature insights nurture our creativity for real problem solving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6289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203864"/>
                </a:solidFill>
                <a:latin typeface="Palatino Linotype"/>
              </a:rPr>
              <a:t>Projeto REDS-DM1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Palatino Linotype"/>
              </a:rPr>
              <a:t>Otimizador Bioinspirado para Gestão de Saúde em Diabetes  ·  Plano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95959"/>
                </a:solidFill>
                <a:latin typeface="Palatino Linotype"/>
              </a:rPr>
              <a:t>Pedro Henrique França  ·  Silas Nunes  ·  Jéssica Maria  ·  José Mario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595959"/>
                </a:solidFill>
                <a:latin typeface="Palatino Linotype"/>
              </a:rPr>
              <a:t>Prof. Dr. Fernando Buarque de Lima Neto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Palatino Linotype"/>
              </a:rPr>
              <a:t>Mentoria: Rodrigo Amaro  ·  Allan Miller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Palatino Linotype"/>
              </a:rPr>
              <a:t>Universidade de Pernambuco – UPE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Palatino Linotype"/>
              </a:rPr>
              <a:t>Escola Politécnica de Pernambuco – POLI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Palatino Linotype"/>
              </a:rPr>
              <a:t>Computational Intelligent Research Group – CIRG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8585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" cy="786384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56362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1719C"/>
                </a:solidFill>
                <a:latin typeface="Palatino Linotyp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527048"/>
            <a:ext cx="98142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De onde viemos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Palatino Linotype"/>
              </a:rPr>
              <a:t>Trajetória em 3 fases e redução de escopo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11185855" cy="786384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267712"/>
            <a:ext cx="64008" cy="786384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14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1719C"/>
                </a:solidFill>
                <a:latin typeface="Palatino Linotyp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377440"/>
            <a:ext cx="98142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O Plano B e seu objetivo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Palatino Linotype"/>
              </a:rPr>
              <a:t>Objetivo adaptado e a variável Wellness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18104"/>
            <a:ext cx="11185855" cy="786384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18104"/>
            <a:ext cx="64008" cy="786384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264408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1719C"/>
                </a:solidFill>
                <a:latin typeface="Palatino Linotyp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27832"/>
            <a:ext cx="98142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Como funciona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Palatino Linotype"/>
              </a:rPr>
              <a:t>Passo a passo e por que PSO (enxame)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68496"/>
            <a:ext cx="11185855" cy="786384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68496"/>
            <a:ext cx="64008" cy="786384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1148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1719C"/>
                </a:solidFill>
                <a:latin typeface="Palatino Linotyp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078224"/>
            <a:ext cx="98142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Validação e ganho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Palatino Linotype"/>
              </a:rPr>
              <a:t>O ótimo conhecido, o perfil ideal e o Meta-FSS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18888"/>
            <a:ext cx="1118585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18888"/>
            <a:ext cx="64008" cy="786384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6519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1719C"/>
                </a:solidFill>
                <a:latin typeface="Palatino Linotype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928616"/>
            <a:ext cx="98142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Fechamento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Palatino Linotype"/>
              </a:rPr>
              <a:t>BFSS de relance, limitações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Síntese executiva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545738" cy="402336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3545738" cy="914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874520"/>
            <a:ext cx="3033674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3864"/>
                </a:solidFill>
                <a:latin typeface="Palatino Linotype"/>
              </a:rPr>
              <a:t>Contexto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Disciplina de Computação Natural.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Sistema REDS-PE (Rede de Atenção à Saúde).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Alvo: pacientes com diabetes em Pernambuco.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Financiamento: SUS / políticas públicas.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978" y="1554480"/>
            <a:ext cx="3545738" cy="402336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978" y="1554480"/>
            <a:ext cx="3545738" cy="914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9010" y="1874520"/>
            <a:ext cx="3033674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3864"/>
                </a:solidFill>
                <a:latin typeface="Palatino Linotype"/>
              </a:rPr>
              <a:t>Proposta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Usar Inteligência de Enxames (PSO).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Achar o perfil do 'indivíduo ideal' entre diabéticos.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Horizonte: otimizar a alocação de recursos maximizando HLY.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3036" y="1554480"/>
            <a:ext cx="3545738" cy="402336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3036" y="1554480"/>
            <a:ext cx="3545738" cy="9144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9068" y="1874520"/>
            <a:ext cx="3033674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6B4F"/>
                </a:solidFill>
                <a:latin typeface="Palatino Linotype"/>
              </a:rPr>
              <a:t>Resultado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6B4F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PSO implementado do zero (NumPy).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6B4F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Validado contra a solução analítica: cosseno = 1,000.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6B4F"/>
                </a:solidFill>
                <a:latin typeface="Arial"/>
              </a:rPr>
              <a:t>•  </a:t>
            </a:r>
            <a:r>
              <a:rPr sz="1400" b="0" i="0">
                <a:solidFill>
                  <a:srgbClr val="404040"/>
                </a:solidFill>
                <a:latin typeface="Palatino Linotype"/>
              </a:rPr>
              <a:t>Perfil clínico interpretável extraído dos pesos.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Trajetória em três fases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95959"/>
                </a:solidFill>
                <a:latin typeface="Palatino Linotype"/>
              </a:rPr>
              <a:t>A redução de escopo foi decisão técnica, não recuo.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10637215" cy="25400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23389" y="1783079"/>
            <a:ext cx="182880" cy="182880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0279"/>
            <a:ext cx="342381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240279"/>
            <a:ext cx="3423818" cy="82296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96311"/>
            <a:ext cx="2966618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Palatino Linotype"/>
              </a:rPr>
              <a:t>FASE 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203864"/>
                </a:solidFill>
                <a:latin typeface="Palatino Linotype"/>
              </a:rPr>
              <a:t>130-US + CTGAN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9A9A9A"/>
                </a:solidFill>
                <a:latin typeface="Palatino Linotype"/>
              </a:rPr>
              <a:t>ABANDONADA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9A9A9A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População errada (97% DM2)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9A9A9A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Sem eixo temporal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9A9A9A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Sem gabarito de validação</a:t>
            </a:r>
          </a:p>
        </p:txBody>
      </p:sp>
      <p:sp>
        <p:nvSpPr>
          <p:cNvPr id="15" name="Oval 14"/>
          <p:cNvSpPr/>
          <p:nvPr/>
        </p:nvSpPr>
        <p:spPr>
          <a:xfrm>
            <a:off x="6004407" y="1783079"/>
            <a:ext cx="182880" cy="182880"/>
          </a:xfrm>
          <a:prstGeom prst="ellipse">
            <a:avLst/>
          </a:prstGeom>
          <a:solidFill>
            <a:srgbClr val="B0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3938" y="2240279"/>
            <a:ext cx="342381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3938" y="2240279"/>
            <a:ext cx="3423818" cy="82296"/>
          </a:xfrm>
          <a:prstGeom prst="rect">
            <a:avLst/>
          </a:prstGeom>
          <a:solidFill>
            <a:srgbClr val="B0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2538" y="2496311"/>
            <a:ext cx="2966618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Palatino Linotype"/>
              </a:rPr>
              <a:t>FASE 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203864"/>
                </a:solidFill>
                <a:latin typeface="Palatino Linotype"/>
              </a:rPr>
              <a:t>Marcadores plantados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B07A2A"/>
                </a:solidFill>
                <a:latin typeface="Palatino Linotype"/>
              </a:rPr>
              <a:t>PAUSADA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07A2A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Base sintética com gabarito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07A2A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Prova algorítmica do otimizador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07A2A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BFSS validado aqui</a:t>
            </a:r>
          </a:p>
        </p:txBody>
      </p:sp>
      <p:sp>
        <p:nvSpPr>
          <p:cNvPr id="19" name="Oval 18"/>
          <p:cNvSpPr/>
          <p:nvPr/>
        </p:nvSpPr>
        <p:spPr>
          <a:xfrm>
            <a:off x="9885425" y="1783079"/>
            <a:ext cx="182880" cy="182880"/>
          </a:xfrm>
          <a:prstGeom prst="ellips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4956" y="2240279"/>
            <a:ext cx="342381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4956" y="2240279"/>
            <a:ext cx="3423818" cy="822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3556" y="2496311"/>
            <a:ext cx="2966618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Palatino Linotype"/>
              </a:rPr>
              <a:t>FASE 3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203864"/>
                </a:solidFill>
                <a:latin typeface="Palatino Linotype"/>
              </a:rPr>
              <a:t>Plano B — PSO / coorte bimodal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6B4F"/>
                </a:solidFill>
                <a:latin typeface="Palatino Linotype"/>
              </a:rPr>
              <a:t>ENTREGUE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4F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Foco da apresentação de hoje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4F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PSO validado (cosseno 1,000)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4F"/>
                </a:solidFill>
                <a:latin typeface="Arial"/>
              </a:rPr>
              <a:t>•  </a:t>
            </a:r>
            <a:r>
              <a:rPr sz="1250" b="0" i="0">
                <a:solidFill>
                  <a:srgbClr val="404040"/>
                </a:solidFill>
                <a:latin typeface="Palatino Linotype"/>
              </a:rPr>
              <a:t>Perfil ideal interpretável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Redução de escopo — status de cada componente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2296" cy="54864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536192"/>
            <a:ext cx="8442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04040"/>
                </a:solidFill>
                <a:latin typeface="Palatino Linotype"/>
              </a:rPr>
              <a:t>130-US + CTGAN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68535" y="1536192"/>
            <a:ext cx="1737360" cy="310896"/>
          </a:xfrm>
          <a:prstGeom prst="roundRect">
            <a:avLst/>
          </a:prstGeom>
          <a:noFill/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68535" y="15727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9A9A9A"/>
                </a:solidFill>
                <a:latin typeface="Palatino Linotype"/>
              </a:rPr>
              <a:t>ABANDONADO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29968"/>
            <a:ext cx="11185855" cy="54864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029968"/>
            <a:ext cx="82296" cy="54864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148840"/>
            <a:ext cx="8442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03864"/>
                </a:solidFill>
                <a:latin typeface="Palatino Linotype"/>
              </a:rPr>
              <a:t>PSO sobre coorte bimodal (Plano 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68535" y="2148840"/>
            <a:ext cx="1737360" cy="310896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8535" y="21854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B4F"/>
                </a:solidFill>
                <a:latin typeface="Palatino Linotype"/>
              </a:rPr>
              <a:t>ENTREGUE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42616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642616"/>
            <a:ext cx="82296" cy="54864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2761488"/>
            <a:ext cx="8442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04040"/>
                </a:solidFill>
                <a:latin typeface="Palatino Linotype"/>
              </a:rPr>
              <a:t>Meta-FSS (hiperparâmetros do PSO)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68535" y="2761488"/>
            <a:ext cx="1737360" cy="310896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8535" y="27980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B4F"/>
                </a:solidFill>
                <a:latin typeface="Palatino Linotype"/>
              </a:rPr>
              <a:t>ENTREGUE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55264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255264"/>
            <a:ext cx="82296" cy="54864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374136"/>
            <a:ext cx="8442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04040"/>
                </a:solidFill>
                <a:latin typeface="Palatino Linotype"/>
              </a:rPr>
              <a:t>Visualização HTML do PSO (3 abas)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8535" y="3374136"/>
            <a:ext cx="1737360" cy="310896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535" y="341071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B4F"/>
                </a:solidFill>
                <a:latin typeface="Palatino Linotype"/>
              </a:rPr>
              <a:t>ENTREGUE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867912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867912"/>
            <a:ext cx="82296" cy="54864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3986784"/>
            <a:ext cx="8442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04040"/>
                </a:solidFill>
                <a:latin typeface="Palatino Linotype"/>
              </a:rPr>
              <a:t>Banco sintético de marcadores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68535" y="3986784"/>
            <a:ext cx="1737360" cy="310896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8535" y="40233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B4F"/>
                </a:solidFill>
                <a:latin typeface="Palatino Linotype"/>
              </a:rPr>
              <a:t>CONCLUÍDO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480560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480560"/>
            <a:ext cx="82296" cy="54864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599432"/>
            <a:ext cx="8442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04040"/>
                </a:solidFill>
                <a:latin typeface="Palatino Linotype"/>
              </a:rPr>
              <a:t>BFSS (seleção de variáveis)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68535" y="4599432"/>
            <a:ext cx="1737360" cy="310896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68535" y="46360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B4F"/>
                </a:solidFill>
                <a:latin typeface="Palatino Linotype"/>
              </a:rPr>
              <a:t>VALIDADO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093208"/>
            <a:ext cx="1118585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093208"/>
            <a:ext cx="82296" cy="548640"/>
          </a:xfrm>
          <a:prstGeom prst="rect">
            <a:avLst/>
          </a:prstGeom>
          <a:solidFill>
            <a:srgbClr val="B0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5212080"/>
            <a:ext cx="8442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04040"/>
                </a:solidFill>
                <a:latin typeface="Palatino Linotype"/>
              </a:rPr>
              <a:t>MOPSO + NSGA-II (frente de Pareto)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68535" y="5212080"/>
            <a:ext cx="1737360" cy="310896"/>
          </a:xfrm>
          <a:prstGeom prst="roundRect">
            <a:avLst/>
          </a:prstGeom>
          <a:noFill/>
          <a:ln w="12700">
            <a:solidFill>
              <a:srgbClr val="B07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68535" y="52486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07A2A"/>
                </a:solidFill>
                <a:latin typeface="Palatino Linotype"/>
              </a:rPr>
              <a:t>PLANEJADO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Objetivo: original  →  adaptado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090007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5090007" cy="9144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55648"/>
            <a:ext cx="4541367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595959"/>
                </a:solidFill>
                <a:latin typeface="Palatino Linotype"/>
              </a:rPr>
              <a:t>ORIGINAL — PLANO 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Otimizador multiobjetivo completo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9A9A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Três objetivos concorrentes (frente de Pareto):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9A9A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Maximizar HLY (Anos de Vida Saudáveis).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9A9A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Minimizar o custo da política pública.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9A9A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Maximizar a equidade regional entre municípios.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9A9A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Baselines: MOPSO + NSGA-II.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0087" y="27660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41719C"/>
                </a:solidFill>
                <a:latin typeface="Palatino Linotyp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98767" y="1463040"/>
            <a:ext cx="5090007" cy="3429000"/>
          </a:xfrm>
          <a:prstGeom prst="rect">
            <a:avLst/>
          </a:prstGeom>
          <a:solidFill>
            <a:srgbClr val="F1F4F8"/>
          </a:solidFill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98767" y="1463040"/>
            <a:ext cx="5090007" cy="914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3087" y="1755648"/>
            <a:ext cx="4541367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03864"/>
                </a:solidFill>
                <a:latin typeface="Palatino Linotype"/>
              </a:rPr>
              <a:t>ADAPTADO — PLANO B  (entregável real)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PSO acha o perfil do indivíduo ideal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PSO otimiza os pesos de uma regressão logística.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Variável-alvo: Wellness (proxy de HLY).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Validar contra a solução analítica do scikit-learn.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Extrair o perfil clínico interpretável dos pesos.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3834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95959"/>
                </a:solidFill>
                <a:latin typeface="Palatino Linotype"/>
              </a:rPr>
              <a:t>Honestidade metodológica: a base é testbed; o entregável é o otimizador. Coorte única (China, 2012), que não distingue T1D/T2D.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A variável dependente: Wellness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26407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Por que não um rótulo clínico direto?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50" b="0" i="0">
                <a:solidFill>
                  <a:srgbClr val="404040"/>
                </a:solidFill>
                <a:latin typeface="Palatino Linotype"/>
              </a:rPr>
              <a:t>A base não possui rótulo 'saudável vs. doente'.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50" b="0" i="0">
                <a:solidFill>
                  <a:srgbClr val="404040"/>
                </a:solidFill>
                <a:latin typeface="Palatino Linotype"/>
              </a:rPr>
              <a:t>É um snapshot transversal, sem trajetória longitudinal.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50" b="0" i="0">
                <a:solidFill>
                  <a:srgbClr val="404040"/>
                </a:solidFill>
                <a:latin typeface="Palatino Linotype"/>
              </a:rPr>
              <a:t>Wellness é construído a partir de variáveis objetivas da coorte.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500" b="1" i="0">
                <a:solidFill>
                  <a:srgbClr val="203864"/>
                </a:solidFill>
                <a:latin typeface="Palatino Linotype"/>
              </a:rPr>
              <a:t>Conexão com HLY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04040"/>
                </a:solidFill>
                <a:latin typeface="Palatino Linotype"/>
              </a:rPr>
              <a:t>Ausência de complicações + controle metabólico = pilares que sustentam os Anos de Vida Saudáveis.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06240"/>
            <a:ext cx="6264078" cy="8686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25112"/>
            <a:ext cx="571543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Palatino Linotype"/>
              </a:rPr>
              <a:t>Wellness  =  terço superior 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3864"/>
                </a:solidFill>
                <a:latin typeface="Palatino Linotype"/>
              </a:rPr>
              <a:t>z(idade) − z(HbA1c) − z(n.º de comorbidades)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4198" y="1463040"/>
            <a:ext cx="446457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4198" y="1463040"/>
            <a:ext cx="4464576" cy="50292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4198" y="1572768"/>
            <a:ext cx="44645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Palatino Linotype"/>
              </a:rPr>
              <a:t>Grupos  (filtro DM ==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518" y="2121408"/>
            <a:ext cx="3184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4040"/>
                </a:solidFill>
                <a:latin typeface="Palatino Linotype"/>
              </a:rPr>
              <a:t>Indivíduos ideais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Palatino Linotype"/>
              </a:rPr>
              <a:t>terço superior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21031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03864"/>
                </a:solidFill>
                <a:latin typeface="Palatino Linotype"/>
              </a:rPr>
              <a:t>119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518" y="2779776"/>
            <a:ext cx="3184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Palatino Linotype"/>
              </a:rPr>
              <a:t>Demais diabéticos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276148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03864"/>
                </a:solidFill>
                <a:latin typeface="Palatino Linotype"/>
              </a:rPr>
              <a:t>238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7078" y="3438144"/>
            <a:ext cx="4098816" cy="12700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518" y="3511296"/>
            <a:ext cx="3184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4040"/>
                </a:solidFill>
                <a:latin typeface="Palatino Linotype"/>
              </a:rPr>
              <a:t>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34930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03864"/>
                </a:solidFill>
                <a:latin typeface="Palatino Linotype"/>
              </a:rPr>
              <a:t>357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Passo a passo da solução (Plano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95959"/>
                </a:solidFill>
                <a:latin typeface="Palatino Linotype"/>
              </a:rPr>
              <a:t>Da base bruta ao perfil do indivíduo ideal — 9 etapas reprodutíveis.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1719C"/>
                </a:solidFill>
                <a:latin typeface="Palatino Linotype"/>
              </a:rPr>
              <a:t>PREPARAÇÃO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48840"/>
            <a:ext cx="91440" cy="1024128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" y="2432304"/>
            <a:ext cx="457200" cy="457200"/>
          </a:xfrm>
          <a:prstGeom prst="ellipse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514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31720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Carregar &amp; filtrar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CSV 5.922×190 → DM==1 → 357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64408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64408"/>
            <a:ext cx="91440" cy="1024128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952" y="3547872"/>
            <a:ext cx="457200" cy="457200"/>
          </a:xfrm>
          <a:prstGeom prst="ellipse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301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47288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Construir Wellness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rótulo 0/1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79976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79976"/>
            <a:ext cx="91440" cy="1024128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4663440"/>
            <a:ext cx="457200" cy="457200"/>
          </a:xfrm>
          <a:prstGeom prst="ellipse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7457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62856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Selecionar 26 features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imputar mediana; z-score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3458" y="169164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03864"/>
                </a:solidFill>
                <a:latin typeface="Palatino Linotype"/>
              </a:rPr>
              <a:t>OTIMIZAÇÃO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3458" y="2148840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53458" y="2148840"/>
            <a:ext cx="91440" cy="10241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09490" y="2432304"/>
            <a:ext cx="457200" cy="45720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9490" y="2514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2138" y="2331720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Função de fitness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−(log-loss + L2)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53458" y="3264408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53458" y="3264408"/>
            <a:ext cx="91440" cy="10241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09490" y="3547872"/>
            <a:ext cx="457200" cy="45720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9490" y="36301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2138" y="3447288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Executar PSO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27D; w=0,7; c1=c2=1,5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53458" y="4379976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53458" y="4379976"/>
            <a:ext cx="91440" cy="10241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09490" y="4663440"/>
            <a:ext cx="457200" cy="45720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09490" y="47457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2138" y="4562856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Validar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cosseno PSO × sklearn = 1,000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3996" y="169164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B4F"/>
                </a:solidFill>
                <a:latin typeface="Palatino Linotype"/>
              </a:rPr>
              <a:t>INTERPRETAÇÃO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3996" y="2148840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03996" y="2148840"/>
            <a:ext cx="91440" cy="10241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60028" y="2432304"/>
            <a:ext cx="457200" cy="457200"/>
          </a:xfrm>
          <a:prstGeom prst="ellips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0028" y="2514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2676" y="2331720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Meta-FSS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hiperparâm.; AUC cross-val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03996" y="3264408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03996" y="3264408"/>
            <a:ext cx="91440" cy="10241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60028" y="3547872"/>
            <a:ext cx="457200" cy="457200"/>
          </a:xfrm>
          <a:prstGeom prst="ellips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60028" y="36301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2676" y="3447288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Perfil do ideal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rank por |peso|; sinal = direção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03996" y="4379976"/>
            <a:ext cx="3484778" cy="1024128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03996" y="4379976"/>
            <a:ext cx="91440" cy="10241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460028" y="4663440"/>
            <a:ext cx="457200" cy="457200"/>
          </a:xfrm>
          <a:prstGeom prst="ellips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60028" y="47457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alatino Linotype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2676" y="4562856"/>
            <a:ext cx="247893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Visualizar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Palatino Linotype"/>
              </a:rPr>
              <a:t>HTML, 3 abas, enxame animado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Por que PSO (enxame) e não algoritmo evolucionário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364327" cy="20116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91440" cy="201168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03864"/>
                </a:solidFill>
                <a:latin typeface="Palatino Linotype"/>
              </a:rPr>
              <a:t>Terreno do problema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Os pesos vivem em espaço contínuo de alta dimensão (27D) e a perda é convexa. O PSO desliza no contínuo com momento e converge rápido para o ótimo. GAs exigem crossover/mutação, menos intuitivos para pesos reais.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1417320"/>
            <a:ext cx="5364327" cy="20116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4447" y="1417320"/>
            <a:ext cx="91440" cy="20116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4487" y="164592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41719C"/>
                </a:solidFill>
                <a:latin typeface="Palatino Linotype"/>
              </a:rPr>
              <a:t>Alinhamento com o enunciado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A disciplina avalia Inteligência de Enxames. PSO é o algoritmo canônico, e a família FSS é o fio condutor do projeto.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03320"/>
            <a:ext cx="5364327" cy="20116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03320"/>
            <a:ext cx="91440" cy="20116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41719C"/>
                </a:solidFill>
                <a:latin typeface="Palatino Linotype"/>
              </a:rPr>
              <a:t>Interpretabilidade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O PSO entrega direto um vetor de pesos: magnitude = importância, sinal = direção clínica. Um genoma binário de GA obscureceria isso.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3703320"/>
            <a:ext cx="5364327" cy="20116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4447" y="3703320"/>
            <a:ext cx="91440" cy="201168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4487" y="393192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E6B4F"/>
                </a:solidFill>
                <a:latin typeface="Palatino Linotype"/>
              </a:rPr>
              <a:t>Validação elegante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Em problema convexo existe ótimo conhecido — dá para provar que o otimizador chegou nele (cosseno = 1,000). Demonstração limpa e didática.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O otimizador acha o ótimo conhecido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4698059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55064"/>
            <a:ext cx="33264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Palatino Linotype"/>
              </a:rPr>
              <a:t>AUC treino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0819" y="158191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95959"/>
                </a:solidFill>
                <a:latin typeface="Palatino Linotype"/>
              </a:rPr>
              <a:t>0,820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4698059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33264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Palatino Linotype"/>
              </a:rPr>
              <a:t>AUC teste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0819" y="231343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04040"/>
                </a:solidFill>
                <a:latin typeface="Palatino Linotype"/>
              </a:rPr>
              <a:t>0,664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4698059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18104"/>
            <a:ext cx="33264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Palatino Linotype"/>
              </a:rPr>
              <a:t>AUC sklearn (baseline)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0819" y="304495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04040"/>
                </a:solidFill>
                <a:latin typeface="Palatino Linotype"/>
              </a:rPr>
              <a:t>0,664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49040"/>
            <a:ext cx="4698059" cy="118872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42408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DD7E3"/>
                </a:solidFill>
                <a:latin typeface="Palatino Linotype"/>
              </a:rPr>
              <a:t>Cosseno(pesos PSO, sklearn)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Palatino Linotype"/>
              </a:rPr>
              <a:t>1,000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58179" y="1463040"/>
            <a:ext cx="6030595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esultados_convergencia_ps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339" y="1600200"/>
            <a:ext cx="5756275" cy="32893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507492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95959"/>
                </a:solidFill>
                <a:latin typeface="Palatino Linotype"/>
              </a:rPr>
              <a:t>O AUC mede a dificuldade do problema; o cosseno prova o otimizador. Para uma demonstração de validação, o PSO num problema convexo é limpo e didático: encontra EXATAMENTE a mesma solução que o otimizador analítico.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O ganho: o perfil do indivíduo ideal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417320"/>
            <a:ext cx="5592927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sultados_import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351" y="1554480"/>
            <a:ext cx="46939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1463040"/>
            <a:ext cx="513572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03864"/>
                </a:solidFill>
                <a:latin typeface="Palatino Linotype"/>
              </a:rPr>
              <a:t>Top características (peso do PSO)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CP2h +0,338  ·  BMI −0,304  ·  BUN +0,240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waist1 −0,232  ·  ISIGutt −0,212  ·  WHR −0,193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SCRE +0,162  ·  ALT −0,134  ·  FatherDM −0,119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63240"/>
            <a:ext cx="5135727" cy="1417320"/>
          </a:xfrm>
          <a:prstGeom prst="rect">
            <a:avLst/>
          </a:prstGeom>
          <a:solidFill>
            <a:srgbClr val="F1F4F8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467852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03864"/>
                </a:solidFill>
                <a:latin typeface="Palatino Linotype"/>
              </a:rPr>
              <a:t>Perfil-síntese do diabético ideal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Mais magro, com menor resistência à insulina, função hepática preservada (ALT) e sem histórico familiar de DM.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9160"/>
            <a:ext cx="513572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Palatino Linotype"/>
              </a:rPr>
              <a:t>Médias (ideais vs demais):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Palatino Linotype"/>
              </a:rPr>
              <a:t>BMI 21,4 vs 24,8   ·   ISIGutt 57,3 vs 104,8   ·   ALT 33,4 vs 45,7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Meta-FSS — o enxame que ajusta o enxame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95959"/>
                </a:solidFill>
                <a:latin typeface="Palatino Linotype"/>
              </a:rPr>
              <a:t>FSS (Fish School Search) otimiza os hiperparâmetros do PSO — meta-otimização em dois níveis.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423818" cy="9144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91440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7452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FSS — meta-nível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Palatino Linotype"/>
              </a:rPr>
              <a:t>ajusta w, c1, c2, 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3314" y="1911096"/>
            <a:ext cx="384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95959"/>
                </a:solidFill>
                <a:latin typeface="Palatino Linotyp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3938" y="1691640"/>
            <a:ext cx="3423818" cy="9144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3938" y="1691640"/>
            <a:ext cx="91440" cy="91440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6546" y="187452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PSO — nível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Palatino Linotype"/>
              </a:rPr>
              <a:t>otimiza os pesos do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4332" y="1911096"/>
            <a:ext cx="384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95959"/>
                </a:solidFill>
                <a:latin typeface="Palatino Linotyp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4956" y="1691640"/>
            <a:ext cx="3423818" cy="9144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4956" y="1691640"/>
            <a:ext cx="91440" cy="91440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7564" y="187452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Regressão logística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Palatino Linotype"/>
              </a:rPr>
              <a:t>classifica o Wellness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71800"/>
            <a:ext cx="5145493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203864"/>
                </a:solidFill>
                <a:latin typeface="Palatino Linotype"/>
              </a:rPr>
              <a:t>Hiperparâmetros encontrados pelo FSS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w = 0,67  ·  c1 = 0,74  ·  c2 = 0,59  ·  λ = 0,016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AUC teste: 0,678 (meta)  vs  0,664 (padrão)  →  +0,014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350" b="0" i="0">
                <a:solidFill>
                  <a:srgbClr val="404040"/>
                </a:solidFill>
                <a:latin typeface="Palatino Linotype"/>
              </a:rPr>
              <a:t>Avaliação por CV-3 no treino (sem tocar no teste).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5613" y="2880360"/>
            <a:ext cx="558316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sultados_comparacao_converge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979" y="3017520"/>
            <a:ext cx="3440430" cy="1965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02920" y="5257800"/>
            <a:ext cx="11185855" cy="749808"/>
          </a:xfrm>
          <a:prstGeom prst="rect">
            <a:avLst/>
          </a:prstGeom>
          <a:solidFill>
            <a:srgbClr val="F1F4F8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675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Palatino Linotype"/>
              </a:rPr>
              <a:t>Leitura honesta: o ganho (+0,014) está dentro do ruído da estimativa (IC ≈ 0,68 ± 0,15) e parte vem do afrouxamento do L2. O ponto não é o número — é mostrar a família FSS governando o PSO.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BFSS, de relance — o plano principal segue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648779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03864"/>
                </a:solidFill>
                <a:latin typeface="Palatino Linotype"/>
              </a:rPr>
              <a:t>Validação por marcadores plantados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50" b="0" i="0">
                <a:solidFill>
                  <a:srgbClr val="404040"/>
                </a:solidFill>
                <a:latin typeface="Palatino Linotype"/>
              </a:rPr>
              <a:t>Base sintética com gabarito (verdade-base plantada).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50" b="0" i="0">
                <a:solidFill>
                  <a:srgbClr val="404040"/>
                </a:solidFill>
                <a:latin typeface="Palatino Linotype"/>
              </a:rPr>
              <a:t>Prova ALGORÍTMICA de que o otimizador recupera o sinal — não é alegação clínica.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03864"/>
                </a:solidFill>
                <a:latin typeface="Arial"/>
              </a:rPr>
              <a:t>•  </a:t>
            </a:r>
            <a:r>
              <a:rPr sz="1450" b="0" i="0">
                <a:solidFill>
                  <a:srgbClr val="404040"/>
                </a:solidFill>
                <a:latin typeface="Palatino Linotype"/>
              </a:rPr>
              <a:t>Mantém a família de enxame (FSS) como fio condutor do projeto.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 i="1">
                <a:solidFill>
                  <a:srgbClr val="595959"/>
                </a:solidFill>
                <a:latin typeface="Palatino Linotype"/>
              </a:rPr>
              <a:t>Próximo: MOPSO discreto + NSGA-II para a frente de Pareto.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38150" y="1554480"/>
            <a:ext cx="4250624" cy="17830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38150" y="1554480"/>
            <a:ext cx="4250624" cy="822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2470" y="1783080"/>
            <a:ext cx="370198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Palatino Linotype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6B4F"/>
                </a:solidFill>
                <a:latin typeface="Palatino Linotype"/>
              </a:rPr>
              <a:t>BFSS validado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Palatino Linotype"/>
              </a:rPr>
              <a:t>Recuperou 8 de 9 marcadores plantados; o subconjunto selecionado eleva o R².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Limitações declaradas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364327" cy="11430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82296" cy="114300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09928"/>
            <a:ext cx="48614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A base não distingue T1D/T2D → 'diabetes tipo não especificado'; é testbed, não evidência clínica.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1508760"/>
            <a:ext cx="5364327" cy="11430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4447" y="1508760"/>
            <a:ext cx="82296" cy="114300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1709928"/>
            <a:ext cx="48614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Coorte única e transversal (China, 2012) → fala de associação, não de causalidade.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5364327" cy="11430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82296" cy="114300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35808"/>
            <a:ext cx="48614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O rótulo 'ideal' é uma escolha de projeto defensável, não a única.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834640"/>
            <a:ext cx="5364327" cy="11430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4447" y="2834640"/>
            <a:ext cx="82296" cy="114300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8767" y="3035808"/>
            <a:ext cx="48614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As 26 preditoras foram curadas à mão → podem ter omitido pistas relevantes.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5364327" cy="11430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82296" cy="114300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61688"/>
            <a:ext cx="48614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Imputação pela mediana 'achata' a variação; o corte do terço (33%) é limiar arbitrário.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4160520"/>
            <a:ext cx="5364327" cy="1143000"/>
          </a:xfrm>
          <a:prstGeom prst="rect">
            <a:avLst/>
          </a:prstGeom>
          <a:solidFill>
            <a:srgbClr val="F1F4F8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4447" y="4160520"/>
            <a:ext cx="82296" cy="114300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8767" y="4361688"/>
            <a:ext cx="48614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04040"/>
                </a:solidFill>
                <a:latin typeface="Palatino Linotype"/>
              </a:rPr>
              <a:t>L2 (λ=0,05) calibrado empiricamente, não por cross-validation formal.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5" y="109728"/>
            <a:ext cx="4160520" cy="6500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6236208"/>
            <a:ext cx="11643055" cy="17780"/>
          </a:xfrm>
          <a:prstGeom prst="rect">
            <a:avLst/>
          </a:prstGeom>
          <a:solidFill>
            <a:srgbClr val="417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102657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6373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COURSE: Computação Natural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864"/>
                </a:solidFill>
                <a:latin typeface="Palatino Linotype"/>
              </a:rPr>
              <a:t>CLASS: Equipe 4  -  TOPIC: Otimizador Bioinspirado (Plano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03864"/>
                </a:solidFill>
                <a:latin typeface="Palatino Linotype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03864"/>
                </a:solidFill>
                <a:latin typeface="Palatino Linotype"/>
              </a:rPr>
              <a:t>Próximos passos e conclusão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522143" cy="77724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92224"/>
            <a:ext cx="2522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864"/>
                </a:solidFill>
                <a:latin typeface="Palatino Linotype"/>
              </a:rPr>
              <a:t>PSO (Plano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351" y="1737360"/>
            <a:ext cx="3291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95959"/>
                </a:solidFill>
                <a:latin typeface="Palatino Linotyp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554480"/>
            <a:ext cx="2522143" cy="77724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0823" y="1792224"/>
            <a:ext cx="2522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864"/>
                </a:solidFill>
                <a:latin typeface="Palatino Linotype"/>
              </a:rPr>
              <a:t>BFSS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1255" y="1737360"/>
            <a:ext cx="3291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95959"/>
                </a:solidFill>
                <a:latin typeface="Palatino Linotyp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554480"/>
            <a:ext cx="2522143" cy="77724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792224"/>
            <a:ext cx="2522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864"/>
                </a:solidFill>
                <a:latin typeface="Palatino Linotype"/>
              </a:rPr>
              <a:t>Simulador 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9159" y="1737360"/>
            <a:ext cx="3291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95959"/>
                </a:solidFill>
                <a:latin typeface="Palatino Linotyp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6631" y="1554480"/>
            <a:ext cx="2522143" cy="77724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B07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6631" y="1792224"/>
            <a:ext cx="2522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864"/>
                </a:solidFill>
                <a:latin typeface="Palatino Linotype"/>
              </a:rPr>
              <a:t>MOPSO + NSGA-II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8892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03864"/>
                </a:solidFill>
                <a:latin typeface="Palatino Linotype"/>
              </a:rPr>
              <a:t>Próximo passo — frente de Pareto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04040"/>
                </a:solidFill>
                <a:latin typeface="Palatino Linotype"/>
              </a:rPr>
              <a:t>MOPSO discreto + NSGA-II sobre ~540 políticas, com gabarito computável por enumeração (HLY × Custo × Equidade).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11185855" cy="13716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51959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DD7E3"/>
                </a:solidFill>
                <a:latin typeface="Palatino Linotype"/>
              </a:rPr>
              <a:t>Conclusão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alatino Linotype"/>
              </a:rPr>
              <a:t>PSO validado (cosseno 1,000) + perfil clínico interpretável = o otimizador funciona. O Plano A continua como horizonte multiobjetivo.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