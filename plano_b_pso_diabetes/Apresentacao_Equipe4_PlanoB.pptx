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C7A8C"/>
                </a:solidFill>
                <a:latin typeface="Calibri"/>
              </a:rPr>
              <a:t>COMPUTAÇÃO NATURAL  ·  EQUIPE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1050919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B2B2B"/>
                </a:solidFill>
                <a:latin typeface="Cambria"/>
              </a:rPr>
              <a:t>Projeto REDS-DM1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4E5F"/>
                </a:solidFill>
                <a:latin typeface="Cambria"/>
              </a:rPr>
              <a:t>Otimizador Bioinspirado para Gestão de Saúde em Diabetes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611880"/>
            <a:ext cx="3840480" cy="0"/>
          </a:xfrm>
          <a:prstGeom prst="bentConnector3">
            <a:avLst/>
          </a:prstGeom>
          <a:ln w="2540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3840480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Calibri"/>
              </a:rPr>
              <a:t>Entrega: PSO validado sobre coorte de diabéticos  (Plano B)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276"/>
                </a:solidFill>
                <a:latin typeface="Calibri"/>
              </a:rPr>
              <a:t>Inteligência de Enxames  ·  PSO  ·  FSS  ·  proxy de 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1792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B7276"/>
                </a:solidFill>
                <a:latin typeface="Calibri"/>
              </a:rPr>
              <a:t>REDS-PE  —  Rede de Atenção à Saúde  ·  Pernambuco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01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1050919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4767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C7A8C"/>
                </a:solidFill>
                <a:latin typeface="Cambr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901952"/>
            <a:ext cx="90461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De onde viemos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76"/>
                </a:solidFill>
                <a:latin typeface="Calibri"/>
              </a:rPr>
              <a:t>Trajetória em 3 fases e redução de escopo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670048"/>
            <a:ext cx="10509199" cy="841248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670048"/>
            <a:ext cx="73152" cy="84124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3464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C7A8C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2788920"/>
            <a:ext cx="90461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O Plano B e seu objetivo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76"/>
                </a:solidFill>
                <a:latin typeface="Calibri"/>
              </a:rPr>
              <a:t>Objetivo adaptado e a variável Wellness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557016"/>
            <a:ext cx="10509199" cy="841248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557016"/>
            <a:ext cx="73152" cy="84124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21608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C7A8C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3675888"/>
            <a:ext cx="90461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Como funciona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76"/>
                </a:solidFill>
                <a:latin typeface="Calibri"/>
              </a:rPr>
              <a:t>Passo a passo e por que PSO (enxame)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443984"/>
            <a:ext cx="10509199" cy="841248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443984"/>
            <a:ext cx="73152" cy="84124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608576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C7A8C"/>
                </a:solidFill>
                <a:latin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4562856"/>
            <a:ext cx="90461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Validação e ganho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76"/>
                </a:solidFill>
                <a:latin typeface="Calibri"/>
              </a:rPr>
              <a:t>O ótimo conhecido e o perfil do indivíduo ideal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5330952"/>
            <a:ext cx="1050919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49554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C7A8C"/>
                </a:solidFill>
                <a:latin typeface="Cambr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5688" y="5449824"/>
            <a:ext cx="90461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2B2B2B"/>
                </a:solidFill>
                <a:latin typeface="Calibri"/>
              </a:rPr>
              <a:t>Fechamento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276"/>
                </a:solidFill>
                <a:latin typeface="Calibri"/>
              </a:rPr>
              <a:t>BFSS de relance, limitações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SÍNTESE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O que é, qual o problema, onde chegamos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3320186" cy="40233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783080"/>
            <a:ext cx="3320186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280812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5F"/>
                </a:solidFill>
                <a:latin typeface="Cambria"/>
              </a:rPr>
              <a:t>Contexto</a:t>
            </a: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Disciplina de Computação Natural.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Sistema REDS-PE (Rede de Atenção à Saúde).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Alvo: pacientes com diabetes em Pernambuco.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Financiamento: SUS / políticas públicas.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5754" y="1783080"/>
            <a:ext cx="3320186" cy="40233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5754" y="1783080"/>
            <a:ext cx="3320186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1786" y="2148840"/>
            <a:ext cx="280812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5F"/>
                </a:solidFill>
                <a:latin typeface="Cambria"/>
              </a:rPr>
              <a:t>Proposta</a:t>
            </a: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Usar Inteligência de Enxames (PSO).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Achar o perfil do 'indivíduo ideal' entre diabéticos.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Horizonte: otimizar a alocação de recursos maximizando HLY.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30260" y="1783080"/>
            <a:ext cx="3320186" cy="40233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0260" y="1783080"/>
            <a:ext cx="3320186" cy="1097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292" y="2148840"/>
            <a:ext cx="2808122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E6B4F"/>
                </a:solidFill>
                <a:latin typeface="Cambria"/>
              </a:rPr>
              <a:t>Resultado</a:t>
            </a:r>
            <a:r>
              <a:rPr sz="140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PSO implementado do zero (NumPy).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Validado contra a solução analítica: cosseno = 1,000.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Perfil clínico interpretável extraído dos pesos.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DE ONDE VIEMOS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Trajetória em três fases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876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6B7276"/>
                </a:solidFill>
                <a:latin typeface="Calibri"/>
              </a:rPr>
              <a:t>A redução de escopo foi decisão técnica, não recuo.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5568" y="2148840"/>
            <a:ext cx="9960559" cy="0"/>
          </a:xfrm>
          <a:prstGeom prst="bentConnector3">
            <a:avLst/>
          </a:prstGeom>
          <a:ln w="25400">
            <a:solidFill>
              <a:srgbClr val="D9D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330653" y="2039112"/>
            <a:ext cx="219456" cy="219456"/>
          </a:xfrm>
          <a:prstGeom prst="ellipse">
            <a:avLst/>
          </a:prstGeom>
          <a:solidFill>
            <a:srgbClr val="9AA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560320"/>
            <a:ext cx="319826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560320"/>
            <a:ext cx="3198266" cy="91440"/>
          </a:xfrm>
          <a:prstGeom prst="rect">
            <a:avLst/>
          </a:prstGeom>
          <a:solidFill>
            <a:srgbClr val="9AA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834640"/>
            <a:ext cx="274106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6B7276"/>
                </a:solidFill>
                <a:latin typeface="Calibri"/>
              </a:rPr>
              <a:t>FASE 1</a:t>
            </a:r>
            <a:r>
              <a:rPr sz="12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População errada (97% DM2)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2B2B2B"/>
                </a:solidFill>
                <a:latin typeface="Cambria"/>
              </a:rPr>
              <a:t>130-US + CTGAN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9AA0A4"/>
                </a:solidFill>
                <a:latin typeface="Calibri"/>
              </a:rPr>
              <a:t>ABANDONADA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Sem eixo temporal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Sem gabarito de validação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5986119" y="2039112"/>
            <a:ext cx="219456" cy="219456"/>
          </a:xfrm>
          <a:prstGeom prst="ellipse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6714" y="2560320"/>
            <a:ext cx="319826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96714" y="2560320"/>
            <a:ext cx="3198266" cy="91440"/>
          </a:xfrm>
          <a:prstGeom prst="rect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5314" y="2834640"/>
            <a:ext cx="274106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6B7276"/>
                </a:solidFill>
                <a:latin typeface="Calibri"/>
              </a:rPr>
              <a:t>FASE 2</a:t>
            </a:r>
            <a:r>
              <a:rPr sz="1250" b="1" i="0">
                <a:solidFill>
                  <a:srgbClr val="B07A2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Base sintética com gabarito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2B2B2B"/>
                </a:solidFill>
                <a:latin typeface="Cambria"/>
              </a:rPr>
              <a:t>Marcadores plantados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B07A2A"/>
                </a:solidFill>
                <a:latin typeface="Calibri"/>
              </a:rPr>
              <a:t>PAUSADA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7A2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Prova algorítmica do otimizador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7A2A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BFSS validado aqui</a:t>
            </a:r>
          </a:p>
        </p:txBody>
      </p:sp>
      <p:sp>
        <p:nvSpPr>
          <p:cNvPr id="18" name="Oval 17"/>
          <p:cNvSpPr/>
          <p:nvPr/>
        </p:nvSpPr>
        <p:spPr>
          <a:xfrm>
            <a:off x="9641585" y="2039112"/>
            <a:ext cx="219456" cy="219456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180" y="2560320"/>
            <a:ext cx="3198266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2180" y="2560320"/>
            <a:ext cx="3198266" cy="914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780" y="2834640"/>
            <a:ext cx="2741066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6B7276"/>
                </a:solidFill>
                <a:latin typeface="Calibri"/>
              </a:rPr>
              <a:t>FASE 3</a:t>
            </a:r>
            <a:r>
              <a:rPr sz="125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Foco da apresentação de hoje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2B2B2B"/>
                </a:solidFill>
                <a:latin typeface="Cambria"/>
              </a:rPr>
              <a:t>Plano B — PSO / coorte bimodal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ENTREGUE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PSO validado (cosseno 1,000)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6B4F"/>
                </a:solidFill>
                <a:latin typeface="Calibri"/>
              </a:rPr>
              <a:t>—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Perfil ideal interpretável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TRANSPARÊNCIA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Redução de escopo — status de cada componente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04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691640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691640"/>
            <a:ext cx="91440" cy="566928"/>
          </a:xfrm>
          <a:prstGeom prst="rect">
            <a:avLst/>
          </a:prstGeom>
          <a:solidFill>
            <a:srgbClr val="9AA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819656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130-US + CTGAN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0207" y="1810512"/>
            <a:ext cx="1737360" cy="329184"/>
          </a:xfrm>
          <a:prstGeom prst="roundRect">
            <a:avLst/>
          </a:prstGeom>
          <a:noFill/>
          <a:ln w="12700">
            <a:solidFill>
              <a:srgbClr val="9AA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0207" y="183794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AA0A4"/>
                </a:solidFill>
                <a:latin typeface="Calibri"/>
              </a:rPr>
              <a:t>ABANDONADO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2322576"/>
            <a:ext cx="10509199" cy="566928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322576"/>
            <a:ext cx="91440" cy="5669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2450592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PSO sobre coorte bimodal (Plano 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0207" y="2441448"/>
            <a:ext cx="1737360" cy="329184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0207" y="246888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ENTREGUE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2953512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2953512"/>
            <a:ext cx="91440" cy="5669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3081528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Meta-FSS (hiperparâmetros do PSO)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0207" y="3072384"/>
            <a:ext cx="1737360" cy="329184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0207" y="309981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ENTREGUE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3584448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" y="3584448"/>
            <a:ext cx="91440" cy="5669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3712464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Visualização HTML do PSO (3 abas)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0207" y="3703320"/>
            <a:ext cx="1737360" cy="329184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0207" y="373075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ENTREGUE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4215384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" y="4215384"/>
            <a:ext cx="91440" cy="5669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4343400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Banco sintético de marcadores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0207" y="4334256"/>
            <a:ext cx="1737360" cy="329184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0207" y="436168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CONCLUÍDO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4846320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" y="4846320"/>
            <a:ext cx="91440" cy="566928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4974336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BFSS (seleção de variáveis)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0207" y="4965192"/>
            <a:ext cx="1737360" cy="329184"/>
          </a:xfrm>
          <a:prstGeom prst="roundRect">
            <a:avLst/>
          </a:prstGeom>
          <a:noFill/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0207" y="499262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6B4F"/>
                </a:solidFill>
                <a:latin typeface="Calibri"/>
              </a:rPr>
              <a:t>VALIDADO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5477256"/>
            <a:ext cx="10509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477256"/>
            <a:ext cx="91440" cy="566928"/>
          </a:xfrm>
          <a:prstGeom prst="rect">
            <a:avLst/>
          </a:prstGeom>
          <a:solidFill>
            <a:srgbClr val="B0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" y="5605272"/>
            <a:ext cx="77659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MOPSO + NSGA-II (frente de Pareto)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30207" y="5596128"/>
            <a:ext cx="1737360" cy="329184"/>
          </a:xfrm>
          <a:prstGeom prst="roundRect">
            <a:avLst/>
          </a:prstGeom>
          <a:noFill/>
          <a:ln w="12700">
            <a:solidFill>
              <a:srgbClr val="B07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0207" y="56235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B07A2A"/>
                </a:solidFill>
                <a:latin typeface="Calibri"/>
              </a:rPr>
              <a:t>PLANEJADO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O PLANO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Objetivo: original  →  adaptado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475167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783080"/>
            <a:ext cx="4751679" cy="109728"/>
          </a:xfrm>
          <a:prstGeom prst="rect">
            <a:avLst/>
          </a:prstGeom>
          <a:solidFill>
            <a:srgbClr val="9AA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103120"/>
            <a:ext cx="42030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6B7276"/>
                </a:solidFill>
                <a:latin typeface="Calibri"/>
              </a:rPr>
              <a:t>ORIGINAL — PLANO A</a:t>
            </a:r>
            <a:r>
              <a:rPr sz="13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Três objetivos concorrentes (frente de Pareto):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B2B2B"/>
                </a:solidFill>
                <a:latin typeface="Cambria"/>
              </a:rPr>
              <a:t>Otimizador multiobjetivo completo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Maximizar HLY (Anos de Vida Saudáveis).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Minimizar o custo da política pública.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Maximizar a equidade regional entre municípios.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9AA0A4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Baselines: MOPSO + NSGA-II.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7519" y="306324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F4E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7327" y="1783080"/>
            <a:ext cx="4751679" cy="3383280"/>
          </a:xfrm>
          <a:prstGeom prst="rect">
            <a:avLst/>
          </a:prstGeom>
          <a:solidFill>
            <a:srgbClr val="F4F6F7"/>
          </a:solidFill>
          <a:ln w="15875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7327" y="1783080"/>
            <a:ext cx="4751679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1647" y="2103120"/>
            <a:ext cx="420303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ADAPTADO — PLANO B  (entregável real)</a:t>
            </a: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PSO otimiza os pesos de uma regressão logística.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B2B2B"/>
                </a:solidFill>
                <a:latin typeface="Cambria"/>
              </a:rPr>
              <a:t>PSO acha o perfil do indivíduo ideal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Variável-alvo: Wellness (proxy de HLY).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Validar contra a solução analítica do scikit-learn.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Extrair o perfil clínico interpretável dos pesos.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30952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6B7276"/>
                </a:solidFill>
                <a:latin typeface="Calibri"/>
              </a:rPr>
              <a:t>Honestidade metodológica: a base é testbed; o entregável é o otimizador. Coorte única (China, 2012), que não distingue T1D/T2D.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O PLANO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A variável dependente: Wellness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06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5885151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B2B2B"/>
                </a:solidFill>
                <a:latin typeface="Cambria"/>
              </a:rPr>
              <a:t>Por que não um rótulo clínico direto?</a:t>
            </a: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A base não possui rótulo 'saudável vs. doente'.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É um snapshot transversal, sem trajetória longitudinal.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Wellness é construído a partir de variáveis objetivas da coorte.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500" b="1" i="0">
                <a:solidFill>
                  <a:srgbClr val="1F4E5F"/>
                </a:solidFill>
                <a:latin typeface="Calibri"/>
              </a:rPr>
              <a:t>Conexão com HLY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Ausência de complicações + controle metabólico = pilares que sustentam os Anos de Vida Saudáveis.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03320"/>
            <a:ext cx="5885151" cy="86868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13048"/>
            <a:ext cx="533651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276"/>
                </a:solidFill>
                <a:latin typeface="Calibri"/>
              </a:rPr>
              <a:t>Wellness  =  terço superior 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4E5F"/>
                </a:solidFill>
                <a:latin typeface="Cambria"/>
              </a:rPr>
              <a:t>z(idade) − z(HbA1c) − z(n.º de comorbidades)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83599" y="1783080"/>
            <a:ext cx="4166847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83599" y="1783080"/>
            <a:ext cx="4166847" cy="50292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83599" y="1892808"/>
            <a:ext cx="4166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Grupos  (filtro DM ==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7919" y="2441448"/>
            <a:ext cx="28866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Indivíduos ideais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276"/>
                </a:solidFill>
                <a:latin typeface="Calibri"/>
              </a:rPr>
              <a:t>terço superior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53167" y="24231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4E5F"/>
                </a:solidFill>
                <a:latin typeface="Cambria"/>
              </a:rPr>
              <a:t>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7919" y="3099816"/>
            <a:ext cx="28866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Demais diabéticos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3167" y="308152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4E5F"/>
                </a:solidFill>
                <a:latin typeface="Cambria"/>
              </a:rPr>
              <a:t>238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66479.44" y="3758184"/>
            <a:ext cx="3801087.5599999996" cy="0"/>
          </a:xfrm>
          <a:prstGeom prst="bentConnector3">
            <a:avLst/>
          </a:prstGeom>
          <a:ln w="12700">
            <a:solidFill>
              <a:srgbClr val="D9DE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7919" y="3831336"/>
            <a:ext cx="288668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3167" y="3813048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F4E5F"/>
                </a:solidFill>
                <a:latin typeface="Cambria"/>
              </a:rPr>
              <a:t>357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Passo a passo da solução (Plano B)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07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813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6B7276"/>
                </a:solidFill>
                <a:latin typeface="Calibri"/>
              </a:rPr>
              <a:t>Da base bruta ao perfil do indivíduo ideal — 9 etapas reprodutíveis.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325922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C7A8C"/>
                </a:solidFill>
                <a:latin typeface="Calibri"/>
              </a:rPr>
              <a:t>PREPARAÇÃO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23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423160"/>
            <a:ext cx="109728" cy="105156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715768"/>
            <a:ext cx="457200" cy="457200"/>
          </a:xfrm>
          <a:prstGeom prst="ellipse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07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606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Carregar &amp; filtrar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CSV 5.922×190 → DM==1 → 357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566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566160"/>
            <a:ext cx="109728" cy="105156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858768"/>
            <a:ext cx="457200" cy="457200"/>
          </a:xfrm>
          <a:prstGeom prst="ellipse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50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749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Construir Wellness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rótulo 0/1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709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709160"/>
            <a:ext cx="109728" cy="105156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001768"/>
            <a:ext cx="457200" cy="457200"/>
          </a:xfrm>
          <a:prstGeom prst="ellipse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93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892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Selecionar 26 features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imputar mediana; z-score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6234" y="1965960"/>
            <a:ext cx="325922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5F"/>
                </a:solidFill>
                <a:latin typeface="Calibri"/>
              </a:rPr>
              <a:t>OTIMIZAÇÃO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6234" y="2423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6234" y="2423160"/>
            <a:ext cx="109728" cy="10515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2266" y="2715768"/>
            <a:ext cx="457200" cy="457200"/>
          </a:xfrm>
          <a:prstGeom prst="ellipse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2266" y="2807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914" y="2606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Função de fitness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−(log-loss + L2)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6234" y="3566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6234" y="3566160"/>
            <a:ext cx="109728" cy="10515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22266" y="3858768"/>
            <a:ext cx="457200" cy="457200"/>
          </a:xfrm>
          <a:prstGeom prst="ellipse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2266" y="3950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914" y="3749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Executar PSO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27D; w=0,7; c1=c2=1,5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6234" y="4709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66234" y="4709160"/>
            <a:ext cx="109728" cy="10515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22266" y="5001768"/>
            <a:ext cx="457200" cy="457200"/>
          </a:xfrm>
          <a:prstGeom prst="ellipse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2266" y="5093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914" y="4892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Validar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cosseno PSO × sklearn = 1,000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1220" y="1965960"/>
            <a:ext cx="325922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6B4F"/>
                </a:solidFill>
                <a:latin typeface="Calibri"/>
              </a:rPr>
              <a:t>INTERPRETAÇÃO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1220" y="2423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1220" y="2423160"/>
            <a:ext cx="109728" cy="105156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47252" y="2715768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7252" y="2807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9900" y="2606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Meta-FSS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hiperparâm.; AUC cross-val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1220" y="3566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1220" y="3566160"/>
            <a:ext cx="109728" cy="105156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47252" y="3858768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7252" y="3950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9900" y="3749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Perfil do ideal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rank por |peso|; sinal = direção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1220" y="4709160"/>
            <a:ext cx="3259226" cy="10515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1220" y="4709160"/>
            <a:ext cx="109728" cy="105156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7252" y="5001768"/>
            <a:ext cx="457200" cy="457200"/>
          </a:xfrm>
          <a:prstGeom prst="ellips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7252" y="50932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59900" y="4892040"/>
            <a:ext cx="225338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Visualizar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76"/>
                </a:solidFill>
                <a:latin typeface="Calibri"/>
              </a:rPr>
              <a:t>HTML, 3 abas, enxame animado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Por que PSO (enxame) e não algoritmo evolucionário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737360"/>
            <a:ext cx="5025999" cy="19659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737360"/>
            <a:ext cx="109728" cy="19659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965960"/>
            <a:ext cx="443163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1F4E5F"/>
                </a:solidFill>
                <a:latin typeface="Cambria"/>
              </a:rPr>
              <a:t>Terreno do problema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Os pesos vivem em espaço contínuo de alta dimensão (27D) e a perda é convexa. O PSO desliza no contínuo com momento e converge rápido para o ótimo. GAs exigem crossover/mutação, menos intuitivos para pesos reais.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37360"/>
            <a:ext cx="5025999" cy="19659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37360"/>
            <a:ext cx="109728" cy="196596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487" y="1965960"/>
            <a:ext cx="443163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3C7A8C"/>
                </a:solidFill>
                <a:latin typeface="Cambria"/>
              </a:rPr>
              <a:t>Alinhamento com o enunciado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 disciplina avalia Inteligência de Enxames. PSO é o algoritmo canônico, e a família FSS é o fio condutor do projeto.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977640"/>
            <a:ext cx="5025999" cy="19659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977640"/>
            <a:ext cx="109728" cy="196596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206240"/>
            <a:ext cx="443163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3C7A8C"/>
                </a:solidFill>
                <a:latin typeface="Cambria"/>
              </a:rPr>
              <a:t>Interpretabilidade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O PSO entrega direto um vetor de pesos: magnitude = importância, sinal = direção clínica. Um genoma binário de GA obscureceria isso.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3977640"/>
            <a:ext cx="5025999" cy="19659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447" y="3977640"/>
            <a:ext cx="109728" cy="196596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4487" y="4206240"/>
            <a:ext cx="4431639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50" b="1" i="0">
                <a:solidFill>
                  <a:srgbClr val="2E6B4F"/>
                </a:solidFill>
                <a:latin typeface="Cambria"/>
              </a:rPr>
              <a:t>Validação elegante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Em problema convexo existe ótimo conhecido — dá para provar que o otimizador chegou nele (cosseno = 1,000). Demonstração limpa e didática.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VALIDAÇÃO E GANHO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O otimizador acha o ótimo conhecido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09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413863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2"/>
            <a:ext cx="304226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276"/>
                </a:solidFill>
                <a:latin typeface="Calibri"/>
              </a:rPr>
              <a:t>AUC treino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4951" y="1911096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B7276"/>
                </a:solidFill>
                <a:latin typeface="Cambria"/>
              </a:rPr>
              <a:t>0,820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578608"/>
            <a:ext cx="4413863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743200"/>
            <a:ext cx="304226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AUC 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4951" y="2660904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Cambria"/>
              </a:rPr>
              <a:t>0,664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328416"/>
            <a:ext cx="4413863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493008"/>
            <a:ext cx="304226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AUC sklearn (baseline)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4951" y="3410712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Cambria"/>
              </a:rPr>
              <a:t>0,664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169664"/>
            <a:ext cx="4413863" cy="123444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52544"/>
            <a:ext cx="395666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DDEE3"/>
                </a:solidFill>
                <a:latin typeface="Calibri"/>
              </a:rPr>
              <a:t>Cosseno(pesos PSO, sklearn)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1,000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2311" y="1783080"/>
            <a:ext cx="5638135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esultados_convergencia_p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471" y="1938528"/>
            <a:ext cx="5363815" cy="30650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" y="5440680"/>
            <a:ext cx="1050919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276"/>
                </a:solidFill>
                <a:latin typeface="Calibri"/>
              </a:rPr>
              <a:t>O AUC mede a dificuldade do problema; o cosseno prova o otimizador. Para uma demonstração de validação, o PSO num problema convexo é limpo e didático: encontra EXATAMENTE a mesma solução que o otimizador analítico.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VALIDAÇÃO E GANHO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O ganho: o perfil do indivíduo ideal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10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1737360"/>
            <a:ext cx="5254599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sultados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7" y="1874519"/>
            <a:ext cx="458724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1783080"/>
            <a:ext cx="47973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F4E5F"/>
                </a:solidFill>
                <a:latin typeface="Calibri"/>
              </a:rPr>
              <a:t>Top características (peso do PSO)</a:t>
            </a: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CP2h +0,338  ·  BMI −0,304  ·  BUN +0,240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waist1 −0,232  ·  ISIGutt −0,212  ·  WHR −0,193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SCRE +0,162  ·  ALT −0,134  ·  FatherDM −0,119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246120"/>
            <a:ext cx="4797399" cy="1417320"/>
          </a:xfrm>
          <a:prstGeom prst="rect">
            <a:avLst/>
          </a:prstGeom>
          <a:solidFill>
            <a:srgbClr val="F4F6F7"/>
          </a:solidFill>
          <a:ln w="12700">
            <a:solidFill>
              <a:srgbClr val="1F4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410712"/>
            <a:ext cx="4340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F4E5F"/>
                </a:solidFill>
                <a:latin typeface="Calibri"/>
              </a:rPr>
              <a:t>Perfil-síntese do diabético ideal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Mais magro, com menor resistência à insulina, função hepática preservada (ALT) e sem histórico familiar de DM.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46320"/>
            <a:ext cx="47973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276"/>
                </a:solidFill>
                <a:latin typeface="Calibri"/>
              </a:rPr>
              <a:t>Médias (ideais vs demais):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BMI 21,4 vs 24,8   ·   ISIGutt 57,3 vs 104,8   ·   ALT 33,4 vs 45,7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BFSS, de relance — o plano principal segue vivo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11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609533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B2B2B"/>
                </a:solidFill>
                <a:latin typeface="Cambria"/>
              </a:rPr>
              <a:t>Validação por marcadores plantados</a:t>
            </a: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Base sintética com gabarito (verdade-base plantada).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Prova ALGORÍTMICA de que o otimizador recupera o sinal — não é alegação clínica.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1F4E5F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Mantém a família de enxame (FSS) como fio condutor do projeto.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 i="1">
                <a:solidFill>
                  <a:srgbClr val="6B7276"/>
                </a:solidFill>
                <a:latin typeface="Calibri"/>
              </a:rPr>
              <a:t>Próximo: MOPSO discreto + NSGA-II para a frente de Pareto.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56951" y="1828800"/>
            <a:ext cx="3993495" cy="173736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56951" y="1828800"/>
            <a:ext cx="3993495" cy="91440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1271" y="2057400"/>
            <a:ext cx="34448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B7276"/>
                </a:solidFill>
                <a:latin typeface="Calibri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6B4F"/>
                </a:solidFill>
                <a:latin typeface="Cambria"/>
              </a:rPr>
              <a:t>BFSS validado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Recuperou 8 de 9 marcadores plantados; o subconjunto selecionado eleva o R².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Limitações declaradas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12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82880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2996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 base não distingue T1D/T2D → 'diabetes tipo não especificado'; é testbed, não evidência clínica.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82880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202996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Coorte única e transversal (China, 2012) → fala de associação, não de causalidade.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315468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315468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35584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O rótulo 'ideal' é uma escolha de projeto defensável, não a única.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4447" y="315468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4447" y="315468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335584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As 26 preditoras foram curadas à mão → podem ter omitido pistas relevantes.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48056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48056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68172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Imputação pela mediana 'achata' a variação; o corte do terço (33%) é limiar arbitrário.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4480560"/>
            <a:ext cx="5025999" cy="1143000"/>
          </a:xfrm>
          <a:prstGeom prst="rect">
            <a:avLst/>
          </a:prstGeom>
          <a:solidFill>
            <a:srgbClr val="F4F6F7"/>
          </a:solidFill>
          <a:ln w="9525">
            <a:solidFill>
              <a:srgbClr val="D9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4447" y="4480560"/>
            <a:ext cx="91440" cy="1143000"/>
          </a:xfrm>
          <a:prstGeom prst="rect">
            <a:avLst/>
          </a:prstGeom>
          <a:solidFill>
            <a:srgbClr val="3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767" y="4681728"/>
            <a:ext cx="452307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L2 (λ=0,05) calibrado empiricamente, não por cross-validation formal.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1148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C7A8C"/>
                </a:solidFill>
                <a:latin typeface="Calibri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0919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B2B2B"/>
                </a:solidFill>
                <a:latin typeface="Cambria"/>
              </a:rPr>
              <a:t>Próximos passos e conclusão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389888"/>
            <a:ext cx="10509199" cy="0"/>
          </a:xfrm>
          <a:prstGeom prst="bentConnector3">
            <a:avLst/>
          </a:prstGeom>
          <a:ln w="19050">
            <a:solidFill>
              <a:srgbClr val="1F4E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Projeto REDS-DM1  ·  Equipe 4  ·  Computação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00800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76"/>
                </a:solidFill>
                <a:latin typeface="Calibri"/>
              </a:rPr>
              <a:t>13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20240"/>
            <a:ext cx="2352979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57984"/>
            <a:ext cx="23529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PSO (Plano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2515" y="210312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6B727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9987" y="1920240"/>
            <a:ext cx="2352979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9987" y="2157984"/>
            <a:ext cx="23529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BFSS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1255" y="210312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6B7276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1920240"/>
            <a:ext cx="2352979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3C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157984"/>
            <a:ext cx="23529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Simulador 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9995" y="2103120"/>
            <a:ext cx="3291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6B727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467" y="1920240"/>
            <a:ext cx="2352979" cy="777240"/>
          </a:xfrm>
          <a:prstGeom prst="roundRect">
            <a:avLst/>
          </a:prstGeom>
          <a:solidFill>
            <a:srgbClr val="F4F6F7"/>
          </a:solidFill>
          <a:ln w="12700">
            <a:solidFill>
              <a:srgbClr val="B07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467" y="2157984"/>
            <a:ext cx="23529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B2B2B"/>
                </a:solidFill>
                <a:latin typeface="Calibri"/>
              </a:rPr>
              <a:t>MOPSO + NSGA-II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08960"/>
            <a:ext cx="10509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4E5F"/>
                </a:solidFill>
                <a:latin typeface="Cambria"/>
              </a:rPr>
              <a:t>Próximo passo — frente de Pareto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MOPSO discreto + NSGA-II sobre ~540 políticas, com gabarito computável por enumeração (HLY × Custo × Equidade).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297680"/>
            <a:ext cx="10509199" cy="128016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4553712"/>
            <a:ext cx="97776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DDEE3"/>
                </a:solidFill>
                <a:latin typeface="Calibri"/>
              </a:rPr>
              <a:t>Conclusão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PSO validado (cosseno 1,000) + perfil clínico interpretável = o otimizador funciona. O Plano A continua como horizonte multiobjetivo.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