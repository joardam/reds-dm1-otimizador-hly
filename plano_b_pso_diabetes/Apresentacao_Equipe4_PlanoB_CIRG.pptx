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eader_r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31175" y="109728"/>
            <a:ext cx="4160520" cy="650081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274320" y="6236208"/>
            <a:ext cx="11643055" cy="17780"/>
          </a:xfrm>
          <a:prstGeom prst="rect">
            <a:avLst/>
          </a:prstGeom>
          <a:solidFill>
            <a:srgbClr val="417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ooter_lef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6291072"/>
            <a:ext cx="1065929" cy="5486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783080" y="6355080"/>
            <a:ext cx="749807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03864"/>
                </a:solidFill>
                <a:latin typeface="Book Antiqua"/>
              </a:rPr>
              <a:t>COURSE: Computação Natural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03864"/>
                </a:solidFill>
                <a:latin typeface="Book Antiqua"/>
              </a:rPr>
              <a:t>CLASS: Equipe 4  -  TOPIC: Otimizador Bioinspirado (Plano B)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23015" y="6364224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203864"/>
                </a:solidFill>
                <a:latin typeface="Book Antiqua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841248"/>
            <a:ext cx="734537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100" b="1" i="1">
                <a:solidFill>
                  <a:srgbClr val="203864"/>
                </a:solidFill>
                <a:latin typeface="Book Antiqua"/>
              </a:rPr>
              <a:t>At CIRG of POLI/UPE Nature insights nurture our creativity for real problem solving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057400"/>
            <a:ext cx="10362895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3800" b="1" i="0">
                <a:solidFill>
                  <a:srgbClr val="203864"/>
                </a:solidFill>
                <a:latin typeface="Book Antiqua"/>
              </a:rPr>
              <a:t>Projeto REDS-DM1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100" b="0" i="0">
                <a:solidFill>
                  <a:srgbClr val="203864"/>
                </a:solidFill>
                <a:latin typeface="Book Antiqua"/>
              </a:rPr>
              <a:t>Otimizador Bioinspirado para Gestão de Saúde em Diabetes  ·  Plano 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611880"/>
            <a:ext cx="10362895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900" b="0" i="0">
                <a:solidFill>
                  <a:srgbClr val="595959"/>
                </a:solidFill>
                <a:latin typeface="Book Antiqua"/>
              </a:rPr>
              <a:t>Pedro Henrique França  ·  Silas Nunes  ·  Jéssica Maria  ·  José Mario</a:t>
            </a:r>
          </a:p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0" i="0">
                <a:solidFill>
                  <a:srgbClr val="595959"/>
                </a:solidFill>
                <a:latin typeface="Book Antiqua"/>
              </a:rPr>
              <a:t>Prof. Dr. Fernando Buarque de Lima Neto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595959"/>
                </a:solidFill>
                <a:latin typeface="Book Antiqua"/>
              </a:rPr>
              <a:t>Mentoria: Rodrigo Amaro  ·  Allan Miller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5029200"/>
            <a:ext cx="10362895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595959"/>
                </a:solidFill>
                <a:latin typeface="Book Antiqua"/>
              </a:rPr>
              <a:t>Universidade de Pernambuco – UPE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595959"/>
                </a:solidFill>
                <a:latin typeface="Book Antiqua"/>
              </a:rPr>
              <a:t>Escola Politécnica de Pernambuco – POLI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595959"/>
                </a:solidFill>
                <a:latin typeface="Book Antiqua"/>
              </a:rPr>
              <a:t>Computational Intelligent Research Group – CIRG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eader_r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31175" y="109728"/>
            <a:ext cx="4160520" cy="650081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274320" y="6236208"/>
            <a:ext cx="11643055" cy="17780"/>
          </a:xfrm>
          <a:prstGeom prst="rect">
            <a:avLst/>
          </a:prstGeom>
          <a:solidFill>
            <a:srgbClr val="417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ooter_lef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6291072"/>
            <a:ext cx="1065929" cy="5486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783080" y="6355080"/>
            <a:ext cx="749807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03864"/>
                </a:solidFill>
                <a:latin typeface="Book Antiqua"/>
              </a:rPr>
              <a:t>COURSE: Computação Natural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03864"/>
                </a:solidFill>
                <a:latin typeface="Book Antiqua"/>
              </a:rPr>
              <a:t>CLASS: Equipe 4  -  TOPIC: Otimizador Bioinspirado (Plano B)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23015" y="6364224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203864"/>
                </a:solidFill>
                <a:latin typeface="Book Antiqua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384048"/>
            <a:ext cx="731520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700" b="1" i="0">
                <a:solidFill>
                  <a:srgbClr val="203864"/>
                </a:solidFill>
                <a:latin typeface="Book Antiqua"/>
              </a:rPr>
              <a:t>Agenda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417320"/>
            <a:ext cx="11185855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D3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1417320"/>
            <a:ext cx="64008" cy="786384"/>
          </a:xfrm>
          <a:prstGeom prst="rect">
            <a:avLst/>
          </a:prstGeom>
          <a:solidFill>
            <a:srgbClr val="417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58952" y="1563624"/>
            <a:ext cx="8229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41719C"/>
                </a:solidFill>
                <a:latin typeface="Book Antiqua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1527048"/>
            <a:ext cx="9814255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700" b="1" i="0">
                <a:solidFill>
                  <a:srgbClr val="203864"/>
                </a:solidFill>
                <a:latin typeface="Book Antiqua"/>
              </a:rPr>
              <a:t>De onde viemos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595959"/>
                </a:solidFill>
                <a:latin typeface="Book Antiqua"/>
              </a:rPr>
              <a:t>Trajetória em 3 fases e redução de escopo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2267712"/>
            <a:ext cx="11185855" cy="786384"/>
          </a:xfrm>
          <a:prstGeom prst="rect">
            <a:avLst/>
          </a:prstGeom>
          <a:solidFill>
            <a:srgbClr val="F1F4F8"/>
          </a:solidFill>
          <a:ln w="9525">
            <a:solidFill>
              <a:srgbClr val="D3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2920" y="2267712"/>
            <a:ext cx="64008" cy="786384"/>
          </a:xfrm>
          <a:prstGeom prst="rect">
            <a:avLst/>
          </a:prstGeom>
          <a:solidFill>
            <a:srgbClr val="417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58952" y="2414016"/>
            <a:ext cx="8229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41719C"/>
                </a:solidFill>
                <a:latin typeface="Book Antiqua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91640" y="2377440"/>
            <a:ext cx="9814255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700" b="1" i="0">
                <a:solidFill>
                  <a:srgbClr val="203864"/>
                </a:solidFill>
                <a:latin typeface="Book Antiqua"/>
              </a:rPr>
              <a:t>O Plano B e seu objetivo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595959"/>
                </a:solidFill>
                <a:latin typeface="Book Antiqua"/>
              </a:rPr>
              <a:t>Objetivo adaptado e a variável Wellness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3118104"/>
            <a:ext cx="11185855" cy="786384"/>
          </a:xfrm>
          <a:prstGeom prst="rect">
            <a:avLst/>
          </a:prstGeom>
          <a:solidFill>
            <a:srgbClr val="F1F4F8"/>
          </a:solidFill>
          <a:ln w="9525">
            <a:solidFill>
              <a:srgbClr val="D3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3118104"/>
            <a:ext cx="64008" cy="786384"/>
          </a:xfrm>
          <a:prstGeom prst="rect">
            <a:avLst/>
          </a:prstGeom>
          <a:solidFill>
            <a:srgbClr val="417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58952" y="3264408"/>
            <a:ext cx="8229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41719C"/>
                </a:solidFill>
                <a:latin typeface="Book Antiqua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91640" y="3227832"/>
            <a:ext cx="9814255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700" b="1" i="0">
                <a:solidFill>
                  <a:srgbClr val="203864"/>
                </a:solidFill>
                <a:latin typeface="Book Antiqua"/>
              </a:rPr>
              <a:t>Como funciona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595959"/>
                </a:solidFill>
                <a:latin typeface="Book Antiqua"/>
              </a:rPr>
              <a:t>Passo a passo e por que PSO (enxame)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3968496"/>
            <a:ext cx="11185855" cy="786384"/>
          </a:xfrm>
          <a:prstGeom prst="rect">
            <a:avLst/>
          </a:prstGeom>
          <a:solidFill>
            <a:srgbClr val="F1F4F8"/>
          </a:solidFill>
          <a:ln w="9525">
            <a:solidFill>
              <a:srgbClr val="D3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02920" y="3968496"/>
            <a:ext cx="64008" cy="786384"/>
          </a:xfrm>
          <a:prstGeom prst="rect">
            <a:avLst/>
          </a:prstGeom>
          <a:solidFill>
            <a:srgbClr val="417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8952" y="4114800"/>
            <a:ext cx="8229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41719C"/>
                </a:solidFill>
                <a:latin typeface="Book Antiqua"/>
              </a:rP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91640" y="4078224"/>
            <a:ext cx="9814255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700" b="1" i="0">
                <a:solidFill>
                  <a:srgbClr val="203864"/>
                </a:solidFill>
                <a:latin typeface="Book Antiqua"/>
              </a:rPr>
              <a:t>Validação e ganho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595959"/>
                </a:solidFill>
                <a:latin typeface="Book Antiqua"/>
              </a:rPr>
              <a:t>O ótimo conhecido, o perfil ideal e o Meta-FSS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" y="4818888"/>
            <a:ext cx="11185855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D3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02920" y="4818888"/>
            <a:ext cx="64008" cy="786384"/>
          </a:xfrm>
          <a:prstGeom prst="rect">
            <a:avLst/>
          </a:prstGeom>
          <a:solidFill>
            <a:srgbClr val="417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58952" y="4965192"/>
            <a:ext cx="8229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41719C"/>
                </a:solidFill>
                <a:latin typeface="Book Antiqua"/>
              </a:rPr>
              <a:t>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691640" y="4928616"/>
            <a:ext cx="9814255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700" b="1" i="0">
                <a:solidFill>
                  <a:srgbClr val="203864"/>
                </a:solidFill>
                <a:latin typeface="Book Antiqua"/>
              </a:rPr>
              <a:t>Fechamento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595959"/>
                </a:solidFill>
                <a:latin typeface="Book Antiqua"/>
              </a:rPr>
              <a:t>BFSS de relance, limitações e próximos passos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eader_r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31175" y="109728"/>
            <a:ext cx="4160520" cy="650081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274320" y="6236208"/>
            <a:ext cx="11643055" cy="17780"/>
          </a:xfrm>
          <a:prstGeom prst="rect">
            <a:avLst/>
          </a:prstGeom>
          <a:solidFill>
            <a:srgbClr val="417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ooter_lef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6291072"/>
            <a:ext cx="1065929" cy="5486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783080" y="6355080"/>
            <a:ext cx="749807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03864"/>
                </a:solidFill>
                <a:latin typeface="Book Antiqua"/>
              </a:rPr>
              <a:t>COURSE: Computação Natural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03864"/>
                </a:solidFill>
                <a:latin typeface="Book Antiqua"/>
              </a:rPr>
              <a:t>CLASS: Equipe 4  -  TOPIC: Otimizador Bioinspirado (Plano B)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23015" y="6364224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203864"/>
                </a:solidFill>
                <a:latin typeface="Book Antiqua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384048"/>
            <a:ext cx="731520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700" b="1" i="0">
                <a:solidFill>
                  <a:srgbClr val="203864"/>
                </a:solidFill>
                <a:latin typeface="Book Antiqua"/>
              </a:rPr>
              <a:t>Síntese executiva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554480"/>
            <a:ext cx="3545738" cy="4023360"/>
          </a:xfrm>
          <a:prstGeom prst="rect">
            <a:avLst/>
          </a:prstGeom>
          <a:solidFill>
            <a:srgbClr val="F1F4F8"/>
          </a:solidFill>
          <a:ln w="9525">
            <a:solidFill>
              <a:srgbClr val="D3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1554480"/>
            <a:ext cx="3545738" cy="91440"/>
          </a:xfrm>
          <a:prstGeom prst="rect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58952" y="1874520"/>
            <a:ext cx="3033674" cy="3566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203864"/>
                </a:solidFill>
                <a:latin typeface="Book Antiqua"/>
              </a:rPr>
              <a:t>Contexto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400" b="1" i="0">
                <a:solidFill>
                  <a:srgbClr val="203864"/>
                </a:solidFill>
                <a:latin typeface="Book Antiqua"/>
              </a:rPr>
              <a:t>•  </a:t>
            </a:r>
            <a:r>
              <a:rPr sz="1400" b="0" i="0">
                <a:solidFill>
                  <a:srgbClr val="404040"/>
                </a:solidFill>
                <a:latin typeface="Book Antiqua"/>
              </a:rPr>
              <a:t>Disciplina de Computação Natural.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400" b="1" i="0">
                <a:solidFill>
                  <a:srgbClr val="203864"/>
                </a:solidFill>
                <a:latin typeface="Book Antiqua"/>
              </a:rPr>
              <a:t>•  </a:t>
            </a:r>
            <a:r>
              <a:rPr sz="1400" b="0" i="0">
                <a:solidFill>
                  <a:srgbClr val="404040"/>
                </a:solidFill>
                <a:latin typeface="Book Antiqua"/>
              </a:rPr>
              <a:t>Sistema REDS-PE (Rede de Atenção à Saúde).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400" b="1" i="0">
                <a:solidFill>
                  <a:srgbClr val="203864"/>
                </a:solidFill>
                <a:latin typeface="Book Antiqua"/>
              </a:rPr>
              <a:t>•  </a:t>
            </a:r>
            <a:r>
              <a:rPr sz="1400" b="0" i="0">
                <a:solidFill>
                  <a:srgbClr val="404040"/>
                </a:solidFill>
                <a:latin typeface="Book Antiqua"/>
              </a:rPr>
              <a:t>Alvo: pacientes com diabetes em Pernambuco.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400" b="1" i="0">
                <a:solidFill>
                  <a:srgbClr val="203864"/>
                </a:solidFill>
                <a:latin typeface="Book Antiqua"/>
              </a:rPr>
              <a:t>•  </a:t>
            </a:r>
            <a:r>
              <a:rPr sz="1400" b="0" i="0">
                <a:solidFill>
                  <a:srgbClr val="404040"/>
                </a:solidFill>
                <a:latin typeface="Book Antiqua"/>
              </a:rPr>
              <a:t>Financiamento: SUS / políticas públicas.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22978" y="1554480"/>
            <a:ext cx="3545738" cy="4023360"/>
          </a:xfrm>
          <a:prstGeom prst="rect">
            <a:avLst/>
          </a:prstGeom>
          <a:solidFill>
            <a:srgbClr val="F1F4F8"/>
          </a:solidFill>
          <a:ln w="9525">
            <a:solidFill>
              <a:srgbClr val="D3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22978" y="1554480"/>
            <a:ext cx="3545738" cy="91440"/>
          </a:xfrm>
          <a:prstGeom prst="rect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9010" y="1874520"/>
            <a:ext cx="3033674" cy="3566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203864"/>
                </a:solidFill>
                <a:latin typeface="Book Antiqua"/>
              </a:rPr>
              <a:t>Proposta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400" b="1" i="0">
                <a:solidFill>
                  <a:srgbClr val="203864"/>
                </a:solidFill>
                <a:latin typeface="Book Antiqua"/>
              </a:rPr>
              <a:t>•  </a:t>
            </a:r>
            <a:r>
              <a:rPr sz="1400" b="0" i="0">
                <a:solidFill>
                  <a:srgbClr val="404040"/>
                </a:solidFill>
                <a:latin typeface="Book Antiqua"/>
              </a:rPr>
              <a:t>Usar Inteligência de Enxames (PSO).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400" b="1" i="0">
                <a:solidFill>
                  <a:srgbClr val="203864"/>
                </a:solidFill>
                <a:latin typeface="Book Antiqua"/>
              </a:rPr>
              <a:t>•  </a:t>
            </a:r>
            <a:r>
              <a:rPr sz="1400" b="0" i="0">
                <a:solidFill>
                  <a:srgbClr val="404040"/>
                </a:solidFill>
                <a:latin typeface="Book Antiqua"/>
              </a:rPr>
              <a:t>Achar o perfil do 'indivíduo ideal' entre diabéticos.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400" b="1" i="0">
                <a:solidFill>
                  <a:srgbClr val="203864"/>
                </a:solidFill>
                <a:latin typeface="Book Antiqua"/>
              </a:rPr>
              <a:t>•  </a:t>
            </a:r>
            <a:r>
              <a:rPr sz="1400" b="0" i="0">
                <a:solidFill>
                  <a:srgbClr val="404040"/>
                </a:solidFill>
                <a:latin typeface="Book Antiqua"/>
              </a:rPr>
              <a:t>Horizonte: otimizar a alocação de recursos maximizando HLY.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143036" y="1554480"/>
            <a:ext cx="3545738" cy="4023360"/>
          </a:xfrm>
          <a:prstGeom prst="rect">
            <a:avLst/>
          </a:prstGeom>
          <a:solidFill>
            <a:srgbClr val="F1F4F8"/>
          </a:solidFill>
          <a:ln w="9525">
            <a:solidFill>
              <a:srgbClr val="D3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143036" y="1554480"/>
            <a:ext cx="3545738" cy="91440"/>
          </a:xfrm>
          <a:prstGeom prst="rect">
            <a:avLst/>
          </a:prstGeom>
          <a:solidFill>
            <a:srgbClr val="2E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99068" y="1874520"/>
            <a:ext cx="3033674" cy="3566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2E6B4F"/>
                </a:solidFill>
                <a:latin typeface="Book Antiqua"/>
              </a:rPr>
              <a:t>Resultado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400" b="1" i="0">
                <a:solidFill>
                  <a:srgbClr val="2E6B4F"/>
                </a:solidFill>
                <a:latin typeface="Book Antiqua"/>
              </a:rPr>
              <a:t>•  </a:t>
            </a:r>
            <a:r>
              <a:rPr sz="1400" b="0" i="0">
                <a:solidFill>
                  <a:srgbClr val="404040"/>
                </a:solidFill>
                <a:latin typeface="Book Antiqua"/>
              </a:rPr>
              <a:t>PSO implementado do zero (NumPy).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400" b="1" i="0">
                <a:solidFill>
                  <a:srgbClr val="2E6B4F"/>
                </a:solidFill>
                <a:latin typeface="Book Antiqua"/>
              </a:rPr>
              <a:t>•  </a:t>
            </a:r>
            <a:r>
              <a:rPr sz="1400" b="0" i="0">
                <a:solidFill>
                  <a:srgbClr val="404040"/>
                </a:solidFill>
                <a:latin typeface="Book Antiqua"/>
              </a:rPr>
              <a:t>Validado contra a solução analítica: cosseno = 1,000.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400" b="1" i="0">
                <a:solidFill>
                  <a:srgbClr val="2E6B4F"/>
                </a:solidFill>
                <a:latin typeface="Book Antiqua"/>
              </a:rPr>
              <a:t>•  </a:t>
            </a:r>
            <a:r>
              <a:rPr sz="1400" b="0" i="0">
                <a:solidFill>
                  <a:srgbClr val="404040"/>
                </a:solidFill>
                <a:latin typeface="Book Antiqua"/>
              </a:rPr>
              <a:t>Perfil clínico interpretável extraído dos pesos.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eader_r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31175" y="109728"/>
            <a:ext cx="4160520" cy="650081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274320" y="6236208"/>
            <a:ext cx="11643055" cy="17780"/>
          </a:xfrm>
          <a:prstGeom prst="rect">
            <a:avLst/>
          </a:prstGeom>
          <a:solidFill>
            <a:srgbClr val="417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ooter_lef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6291072"/>
            <a:ext cx="1065929" cy="5486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783080" y="6355080"/>
            <a:ext cx="749807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03864"/>
                </a:solidFill>
                <a:latin typeface="Book Antiqua"/>
              </a:rPr>
              <a:t>COURSE: Computação Natural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03864"/>
                </a:solidFill>
                <a:latin typeface="Book Antiqua"/>
              </a:rPr>
              <a:t>CLASS: Equipe 4  -  TOPIC: Otimizador Bioinspirado (Plano B)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23015" y="6364224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203864"/>
                </a:solidFill>
                <a:latin typeface="Book Antiqua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384048"/>
            <a:ext cx="731520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700" b="1" i="0">
                <a:solidFill>
                  <a:srgbClr val="203864"/>
                </a:solidFill>
                <a:latin typeface="Book Antiqua"/>
              </a:rPr>
              <a:t>Trajetória em três fases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207008"/>
            <a:ext cx="1118585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 i="1">
                <a:solidFill>
                  <a:srgbClr val="595959"/>
                </a:solidFill>
                <a:latin typeface="Book Antiqua"/>
              </a:rPr>
              <a:t>A redução de escopo foi decisão técnica, não recuo.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1874519"/>
            <a:ext cx="10637215" cy="25400"/>
          </a:xfrm>
          <a:prstGeom prst="rect">
            <a:avLst/>
          </a:prstGeom>
          <a:solidFill>
            <a:srgbClr val="D3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123389" y="1783079"/>
            <a:ext cx="182880" cy="182880"/>
          </a:xfrm>
          <a:prstGeom prst="ellipse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2240279"/>
            <a:ext cx="3423818" cy="3246120"/>
          </a:xfrm>
          <a:prstGeom prst="rect">
            <a:avLst/>
          </a:prstGeom>
          <a:solidFill>
            <a:srgbClr val="FFFFFF"/>
          </a:solidFill>
          <a:ln w="9525">
            <a:solidFill>
              <a:srgbClr val="D3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02920" y="2240279"/>
            <a:ext cx="3423818" cy="82296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2496311"/>
            <a:ext cx="2966618" cy="2834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595959"/>
                </a:solidFill>
                <a:latin typeface="Book Antiqua"/>
              </a:rPr>
              <a:t>FASE 1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600" b="1" i="0">
                <a:solidFill>
                  <a:srgbClr val="203864"/>
                </a:solidFill>
                <a:latin typeface="Book Antiqua"/>
              </a:rPr>
              <a:t>130-US + CTGAN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100" b="1" i="0">
                <a:solidFill>
                  <a:srgbClr val="9A9A9A"/>
                </a:solidFill>
                <a:latin typeface="Book Antiqua"/>
              </a:rPr>
              <a:t>ABANDONADA</a:t>
            </a:r>
          </a:p>
          <a:p>
            <a:pPr>
              <a:spcBef>
                <a:spcPts val="0"/>
              </a:spcBef>
              <a:spcAft>
                <a:spcPts val="700"/>
              </a:spcAft>
            </a:pPr>
            <a:r>
              <a:rPr sz="1250" b="1" i="0">
                <a:solidFill>
                  <a:srgbClr val="9A9A9A"/>
                </a:solidFill>
                <a:latin typeface="Book Antiqua"/>
              </a:rPr>
              <a:t>•  </a:t>
            </a:r>
            <a:r>
              <a:rPr sz="1250" b="0" i="0">
                <a:solidFill>
                  <a:srgbClr val="404040"/>
                </a:solidFill>
                <a:latin typeface="Book Antiqua"/>
              </a:rPr>
              <a:t>População errada (97% DM2)</a:t>
            </a:r>
          </a:p>
          <a:p>
            <a:pPr>
              <a:spcBef>
                <a:spcPts val="0"/>
              </a:spcBef>
              <a:spcAft>
                <a:spcPts val="700"/>
              </a:spcAft>
            </a:pPr>
            <a:r>
              <a:rPr sz="1250" b="1" i="0">
                <a:solidFill>
                  <a:srgbClr val="9A9A9A"/>
                </a:solidFill>
                <a:latin typeface="Book Antiqua"/>
              </a:rPr>
              <a:t>•  </a:t>
            </a:r>
            <a:r>
              <a:rPr sz="1250" b="0" i="0">
                <a:solidFill>
                  <a:srgbClr val="404040"/>
                </a:solidFill>
                <a:latin typeface="Book Antiqua"/>
              </a:rPr>
              <a:t>Sem eixo temporal</a:t>
            </a:r>
          </a:p>
          <a:p>
            <a:pPr>
              <a:spcBef>
                <a:spcPts val="0"/>
              </a:spcBef>
              <a:spcAft>
                <a:spcPts val="700"/>
              </a:spcAft>
            </a:pPr>
            <a:r>
              <a:rPr sz="1250" b="1" i="0">
                <a:solidFill>
                  <a:srgbClr val="9A9A9A"/>
                </a:solidFill>
                <a:latin typeface="Book Antiqua"/>
              </a:rPr>
              <a:t>•  </a:t>
            </a:r>
            <a:r>
              <a:rPr sz="1250" b="0" i="0">
                <a:solidFill>
                  <a:srgbClr val="404040"/>
                </a:solidFill>
                <a:latin typeface="Book Antiqua"/>
              </a:rPr>
              <a:t>Sem gabarito de validação</a:t>
            </a:r>
          </a:p>
        </p:txBody>
      </p:sp>
      <p:sp>
        <p:nvSpPr>
          <p:cNvPr id="15" name="Oval 14"/>
          <p:cNvSpPr/>
          <p:nvPr/>
        </p:nvSpPr>
        <p:spPr>
          <a:xfrm>
            <a:off x="6004407" y="1783079"/>
            <a:ext cx="182880" cy="182880"/>
          </a:xfrm>
          <a:prstGeom prst="ellipse">
            <a:avLst/>
          </a:prstGeom>
          <a:solidFill>
            <a:srgbClr val="B07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83938" y="2240279"/>
            <a:ext cx="3423818" cy="3246120"/>
          </a:xfrm>
          <a:prstGeom prst="rect">
            <a:avLst/>
          </a:prstGeom>
          <a:solidFill>
            <a:srgbClr val="FFFFFF"/>
          </a:solidFill>
          <a:ln w="9525">
            <a:solidFill>
              <a:srgbClr val="D3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83938" y="2240279"/>
            <a:ext cx="3423818" cy="82296"/>
          </a:xfrm>
          <a:prstGeom prst="rect">
            <a:avLst/>
          </a:prstGeom>
          <a:solidFill>
            <a:srgbClr val="B07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12538" y="2496311"/>
            <a:ext cx="2966618" cy="2834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595959"/>
                </a:solidFill>
                <a:latin typeface="Book Antiqua"/>
              </a:rPr>
              <a:t>FASE 2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600" b="1" i="0">
                <a:solidFill>
                  <a:srgbClr val="203864"/>
                </a:solidFill>
                <a:latin typeface="Book Antiqua"/>
              </a:rPr>
              <a:t>Marcadores plantados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100" b="1" i="0">
                <a:solidFill>
                  <a:srgbClr val="B07A2A"/>
                </a:solidFill>
                <a:latin typeface="Book Antiqua"/>
              </a:rPr>
              <a:t>PAUSADA</a:t>
            </a:r>
          </a:p>
          <a:p>
            <a:pPr>
              <a:spcBef>
                <a:spcPts val="0"/>
              </a:spcBef>
              <a:spcAft>
                <a:spcPts val="700"/>
              </a:spcAft>
            </a:pPr>
            <a:r>
              <a:rPr sz="1250" b="1" i="0">
                <a:solidFill>
                  <a:srgbClr val="B07A2A"/>
                </a:solidFill>
                <a:latin typeface="Book Antiqua"/>
              </a:rPr>
              <a:t>•  </a:t>
            </a:r>
            <a:r>
              <a:rPr sz="1250" b="0" i="0">
                <a:solidFill>
                  <a:srgbClr val="404040"/>
                </a:solidFill>
                <a:latin typeface="Book Antiqua"/>
              </a:rPr>
              <a:t>Base sintética com gabarito</a:t>
            </a:r>
          </a:p>
          <a:p>
            <a:pPr>
              <a:spcBef>
                <a:spcPts val="0"/>
              </a:spcBef>
              <a:spcAft>
                <a:spcPts val="700"/>
              </a:spcAft>
            </a:pPr>
            <a:r>
              <a:rPr sz="1250" b="1" i="0">
                <a:solidFill>
                  <a:srgbClr val="B07A2A"/>
                </a:solidFill>
                <a:latin typeface="Book Antiqua"/>
              </a:rPr>
              <a:t>•  </a:t>
            </a:r>
            <a:r>
              <a:rPr sz="1250" b="0" i="0">
                <a:solidFill>
                  <a:srgbClr val="404040"/>
                </a:solidFill>
                <a:latin typeface="Book Antiqua"/>
              </a:rPr>
              <a:t>Prova algorítmica do otimizador</a:t>
            </a:r>
          </a:p>
          <a:p>
            <a:pPr>
              <a:spcBef>
                <a:spcPts val="0"/>
              </a:spcBef>
              <a:spcAft>
                <a:spcPts val="700"/>
              </a:spcAft>
            </a:pPr>
            <a:r>
              <a:rPr sz="1250" b="1" i="0">
                <a:solidFill>
                  <a:srgbClr val="B07A2A"/>
                </a:solidFill>
                <a:latin typeface="Book Antiqua"/>
              </a:rPr>
              <a:t>•  </a:t>
            </a:r>
            <a:r>
              <a:rPr sz="1250" b="0" i="0">
                <a:solidFill>
                  <a:srgbClr val="404040"/>
                </a:solidFill>
                <a:latin typeface="Book Antiqua"/>
              </a:rPr>
              <a:t>BFSS validado aqui</a:t>
            </a:r>
          </a:p>
        </p:txBody>
      </p:sp>
      <p:sp>
        <p:nvSpPr>
          <p:cNvPr id="19" name="Oval 18"/>
          <p:cNvSpPr/>
          <p:nvPr/>
        </p:nvSpPr>
        <p:spPr>
          <a:xfrm>
            <a:off x="9885425" y="1783079"/>
            <a:ext cx="182880" cy="182880"/>
          </a:xfrm>
          <a:prstGeom prst="ellipse">
            <a:avLst/>
          </a:prstGeom>
          <a:solidFill>
            <a:srgbClr val="2E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264956" y="2240279"/>
            <a:ext cx="3423818" cy="3246120"/>
          </a:xfrm>
          <a:prstGeom prst="rect">
            <a:avLst/>
          </a:prstGeom>
          <a:solidFill>
            <a:srgbClr val="FFFFFF"/>
          </a:solidFill>
          <a:ln w="9525">
            <a:solidFill>
              <a:srgbClr val="D3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264956" y="2240279"/>
            <a:ext cx="3423818" cy="82296"/>
          </a:xfrm>
          <a:prstGeom prst="rect">
            <a:avLst/>
          </a:prstGeom>
          <a:solidFill>
            <a:srgbClr val="2E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93556" y="2496311"/>
            <a:ext cx="2966618" cy="2834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595959"/>
                </a:solidFill>
                <a:latin typeface="Book Antiqua"/>
              </a:rPr>
              <a:t>FASE 3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600" b="1" i="0">
                <a:solidFill>
                  <a:srgbClr val="203864"/>
                </a:solidFill>
                <a:latin typeface="Book Antiqua"/>
              </a:rPr>
              <a:t>Plano B — PSO / coorte bimodal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100" b="1" i="0">
                <a:solidFill>
                  <a:srgbClr val="2E6B4F"/>
                </a:solidFill>
                <a:latin typeface="Book Antiqua"/>
              </a:rPr>
              <a:t>ENTREGUE</a:t>
            </a:r>
          </a:p>
          <a:p>
            <a:pPr>
              <a:spcBef>
                <a:spcPts val="0"/>
              </a:spcBef>
              <a:spcAft>
                <a:spcPts val="700"/>
              </a:spcAft>
            </a:pPr>
            <a:r>
              <a:rPr sz="1250" b="1" i="0">
                <a:solidFill>
                  <a:srgbClr val="2E6B4F"/>
                </a:solidFill>
                <a:latin typeface="Book Antiqua"/>
              </a:rPr>
              <a:t>•  </a:t>
            </a:r>
            <a:r>
              <a:rPr sz="1250" b="0" i="0">
                <a:solidFill>
                  <a:srgbClr val="404040"/>
                </a:solidFill>
                <a:latin typeface="Book Antiqua"/>
              </a:rPr>
              <a:t>Foco da apresentação de hoje</a:t>
            </a:r>
          </a:p>
          <a:p>
            <a:pPr>
              <a:spcBef>
                <a:spcPts val="0"/>
              </a:spcBef>
              <a:spcAft>
                <a:spcPts val="700"/>
              </a:spcAft>
            </a:pPr>
            <a:r>
              <a:rPr sz="1250" b="1" i="0">
                <a:solidFill>
                  <a:srgbClr val="2E6B4F"/>
                </a:solidFill>
                <a:latin typeface="Book Antiqua"/>
              </a:rPr>
              <a:t>•  </a:t>
            </a:r>
            <a:r>
              <a:rPr sz="1250" b="0" i="0">
                <a:solidFill>
                  <a:srgbClr val="404040"/>
                </a:solidFill>
                <a:latin typeface="Book Antiqua"/>
              </a:rPr>
              <a:t>PSO validado (cosseno 1,000)</a:t>
            </a:r>
          </a:p>
          <a:p>
            <a:pPr>
              <a:spcBef>
                <a:spcPts val="0"/>
              </a:spcBef>
              <a:spcAft>
                <a:spcPts val="700"/>
              </a:spcAft>
            </a:pPr>
            <a:r>
              <a:rPr sz="1250" b="1" i="0">
                <a:solidFill>
                  <a:srgbClr val="2E6B4F"/>
                </a:solidFill>
                <a:latin typeface="Book Antiqua"/>
              </a:rPr>
              <a:t>•  </a:t>
            </a:r>
            <a:r>
              <a:rPr sz="1250" b="0" i="0">
                <a:solidFill>
                  <a:srgbClr val="404040"/>
                </a:solidFill>
                <a:latin typeface="Book Antiqua"/>
              </a:rPr>
              <a:t>Perfil ideal interpretável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eader_r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31175" y="109728"/>
            <a:ext cx="4160520" cy="650081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274320" y="6236208"/>
            <a:ext cx="11643055" cy="17780"/>
          </a:xfrm>
          <a:prstGeom prst="rect">
            <a:avLst/>
          </a:prstGeom>
          <a:solidFill>
            <a:srgbClr val="417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ooter_lef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6291072"/>
            <a:ext cx="1065929" cy="5486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783080" y="6355080"/>
            <a:ext cx="749807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03864"/>
                </a:solidFill>
                <a:latin typeface="Book Antiqua"/>
              </a:rPr>
              <a:t>COURSE: Computação Natural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03864"/>
                </a:solidFill>
                <a:latin typeface="Book Antiqua"/>
              </a:rPr>
              <a:t>CLASS: Equipe 4  -  TOPIC: Otimizador Bioinspirado (Plano B)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23015" y="6364224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203864"/>
                </a:solidFill>
                <a:latin typeface="Book Antiqua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384048"/>
            <a:ext cx="731520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700" b="1" i="0">
                <a:solidFill>
                  <a:srgbClr val="203864"/>
                </a:solidFill>
                <a:latin typeface="Book Antiqua"/>
              </a:rPr>
              <a:t>Redução de escopo — status de cada componente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417320"/>
            <a:ext cx="11185855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3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1417320"/>
            <a:ext cx="82296" cy="548640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5528" y="1536192"/>
            <a:ext cx="844265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50" b="0" i="0">
                <a:solidFill>
                  <a:srgbClr val="404040"/>
                </a:solidFill>
                <a:latin typeface="Book Antiqua"/>
              </a:rPr>
              <a:t>130-US + CTGAN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768535" y="1536192"/>
            <a:ext cx="1737360" cy="310896"/>
          </a:xfrm>
          <a:prstGeom prst="roundRect">
            <a:avLst/>
          </a:prstGeom>
          <a:noFill/>
          <a:ln w="12700">
            <a:solidFill>
              <a:srgbClr val="9A9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68535" y="1572768"/>
            <a:ext cx="1737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050" b="1" i="0">
                <a:solidFill>
                  <a:srgbClr val="9A9A9A"/>
                </a:solidFill>
                <a:latin typeface="Book Antiqua"/>
              </a:rPr>
              <a:t>ABANDONADO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029968"/>
            <a:ext cx="11185855" cy="548640"/>
          </a:xfrm>
          <a:prstGeom prst="rect">
            <a:avLst/>
          </a:prstGeom>
          <a:solidFill>
            <a:srgbClr val="F1F4F8"/>
          </a:solidFill>
          <a:ln w="9525">
            <a:solidFill>
              <a:srgbClr val="D3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" y="2029968"/>
            <a:ext cx="82296" cy="548640"/>
          </a:xfrm>
          <a:prstGeom prst="rect">
            <a:avLst/>
          </a:prstGeom>
          <a:solidFill>
            <a:srgbClr val="2E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5528" y="2148840"/>
            <a:ext cx="844265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50" b="1" i="0">
                <a:solidFill>
                  <a:srgbClr val="203864"/>
                </a:solidFill>
                <a:latin typeface="Book Antiqua"/>
              </a:rPr>
              <a:t>PSO sobre coorte bimodal (Plano B)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768535" y="2148840"/>
            <a:ext cx="1737360" cy="310896"/>
          </a:xfrm>
          <a:prstGeom prst="roundRect">
            <a:avLst/>
          </a:prstGeom>
          <a:noFill/>
          <a:ln w="12700">
            <a:solidFill>
              <a:srgbClr val="2E6B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768535" y="2185416"/>
            <a:ext cx="1737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050" b="1" i="0">
                <a:solidFill>
                  <a:srgbClr val="2E6B4F"/>
                </a:solidFill>
                <a:latin typeface="Book Antiqua"/>
              </a:rPr>
              <a:t>ENTREGUE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2642616"/>
            <a:ext cx="11185855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3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02920" y="2642616"/>
            <a:ext cx="82296" cy="548640"/>
          </a:xfrm>
          <a:prstGeom prst="rect">
            <a:avLst/>
          </a:prstGeom>
          <a:solidFill>
            <a:srgbClr val="2E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95528" y="2761488"/>
            <a:ext cx="844265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50" b="0" i="0">
                <a:solidFill>
                  <a:srgbClr val="404040"/>
                </a:solidFill>
                <a:latin typeface="Book Antiqua"/>
              </a:rPr>
              <a:t>Meta-FSS (hiperparâmetros do PSO)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768535" y="2761488"/>
            <a:ext cx="1737360" cy="310896"/>
          </a:xfrm>
          <a:prstGeom prst="roundRect">
            <a:avLst/>
          </a:prstGeom>
          <a:noFill/>
          <a:ln w="12700">
            <a:solidFill>
              <a:srgbClr val="2E6B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768535" y="2798064"/>
            <a:ext cx="1737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050" b="1" i="0">
                <a:solidFill>
                  <a:srgbClr val="2E6B4F"/>
                </a:solidFill>
                <a:latin typeface="Book Antiqua"/>
              </a:rPr>
              <a:t>ENTREGUE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3255264"/>
            <a:ext cx="11185855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3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02920" y="3255264"/>
            <a:ext cx="82296" cy="548640"/>
          </a:xfrm>
          <a:prstGeom prst="rect">
            <a:avLst/>
          </a:prstGeom>
          <a:solidFill>
            <a:srgbClr val="2E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95528" y="3374136"/>
            <a:ext cx="844265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50" b="0" i="0">
                <a:solidFill>
                  <a:srgbClr val="404040"/>
                </a:solidFill>
                <a:latin typeface="Book Antiqua"/>
              </a:rPr>
              <a:t>Visualização HTML do PSO (3 abas)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768535" y="3374136"/>
            <a:ext cx="1737360" cy="310896"/>
          </a:xfrm>
          <a:prstGeom prst="roundRect">
            <a:avLst/>
          </a:prstGeom>
          <a:noFill/>
          <a:ln w="12700">
            <a:solidFill>
              <a:srgbClr val="2E6B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768535" y="3410712"/>
            <a:ext cx="1737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050" b="1" i="0">
                <a:solidFill>
                  <a:srgbClr val="2E6B4F"/>
                </a:solidFill>
                <a:latin typeface="Book Antiqua"/>
              </a:rPr>
              <a:t>ENTREGUE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2920" y="3867912"/>
            <a:ext cx="11185855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3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02920" y="3867912"/>
            <a:ext cx="82296" cy="548640"/>
          </a:xfrm>
          <a:prstGeom prst="rect">
            <a:avLst/>
          </a:prstGeom>
          <a:solidFill>
            <a:srgbClr val="2E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95528" y="3986784"/>
            <a:ext cx="844265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50" b="0" i="0">
                <a:solidFill>
                  <a:srgbClr val="404040"/>
                </a:solidFill>
                <a:latin typeface="Book Antiqua"/>
              </a:rPr>
              <a:t>Banco sintético de marcadores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768535" y="3986784"/>
            <a:ext cx="1737360" cy="310896"/>
          </a:xfrm>
          <a:prstGeom prst="roundRect">
            <a:avLst/>
          </a:prstGeom>
          <a:noFill/>
          <a:ln w="12700">
            <a:solidFill>
              <a:srgbClr val="2E6B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768535" y="4023360"/>
            <a:ext cx="1737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050" b="1" i="0">
                <a:solidFill>
                  <a:srgbClr val="2E6B4F"/>
                </a:solidFill>
                <a:latin typeface="Book Antiqua"/>
              </a:rPr>
              <a:t>CONCLUÍDO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02920" y="4480560"/>
            <a:ext cx="11185855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3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02920" y="4480560"/>
            <a:ext cx="82296" cy="548640"/>
          </a:xfrm>
          <a:prstGeom prst="rect">
            <a:avLst/>
          </a:prstGeom>
          <a:solidFill>
            <a:srgbClr val="2E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95528" y="4599432"/>
            <a:ext cx="844265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50" b="0" i="0">
                <a:solidFill>
                  <a:srgbClr val="404040"/>
                </a:solidFill>
                <a:latin typeface="Book Antiqua"/>
              </a:rPr>
              <a:t>BFSS (seleção de variáveis)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9768535" y="4599432"/>
            <a:ext cx="1737360" cy="310896"/>
          </a:xfrm>
          <a:prstGeom prst="roundRect">
            <a:avLst/>
          </a:prstGeom>
          <a:noFill/>
          <a:ln w="12700">
            <a:solidFill>
              <a:srgbClr val="2E6B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768535" y="4636008"/>
            <a:ext cx="1737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050" b="1" i="0">
                <a:solidFill>
                  <a:srgbClr val="2E6B4F"/>
                </a:solidFill>
                <a:latin typeface="Book Antiqua"/>
              </a:rPr>
              <a:t>VALIDADO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02920" y="5093208"/>
            <a:ext cx="11185855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3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502920" y="5093208"/>
            <a:ext cx="82296" cy="548640"/>
          </a:xfrm>
          <a:prstGeom prst="rect">
            <a:avLst/>
          </a:prstGeom>
          <a:solidFill>
            <a:srgbClr val="B07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95528" y="5212080"/>
            <a:ext cx="844265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50" b="0" i="0">
                <a:solidFill>
                  <a:srgbClr val="404040"/>
                </a:solidFill>
                <a:latin typeface="Book Antiqua"/>
              </a:rPr>
              <a:t>MOPSO + NSGA-II (frente de Pareto)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9768535" y="5212080"/>
            <a:ext cx="1737360" cy="310896"/>
          </a:xfrm>
          <a:prstGeom prst="roundRect">
            <a:avLst/>
          </a:prstGeom>
          <a:noFill/>
          <a:ln w="12700">
            <a:solidFill>
              <a:srgbClr val="B07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768535" y="5248656"/>
            <a:ext cx="1737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050" b="1" i="0">
                <a:solidFill>
                  <a:srgbClr val="B07A2A"/>
                </a:solidFill>
                <a:latin typeface="Book Antiqua"/>
              </a:rPr>
              <a:t>PLANEJADO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eader_r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31175" y="109728"/>
            <a:ext cx="4160520" cy="650081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274320" y="6236208"/>
            <a:ext cx="11643055" cy="17780"/>
          </a:xfrm>
          <a:prstGeom prst="rect">
            <a:avLst/>
          </a:prstGeom>
          <a:solidFill>
            <a:srgbClr val="417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ooter_lef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6291072"/>
            <a:ext cx="1065929" cy="5486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783080" y="6355080"/>
            <a:ext cx="749807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03864"/>
                </a:solidFill>
                <a:latin typeface="Book Antiqua"/>
              </a:rPr>
              <a:t>COURSE: Computação Natural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03864"/>
                </a:solidFill>
                <a:latin typeface="Book Antiqua"/>
              </a:rPr>
              <a:t>CLASS: Equipe 4  -  TOPIC: Otimizador Bioinspirado (Plano B)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23015" y="6364224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203864"/>
                </a:solidFill>
                <a:latin typeface="Book Antiqua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384048"/>
            <a:ext cx="731520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700" b="1" i="0">
                <a:solidFill>
                  <a:srgbClr val="203864"/>
                </a:solidFill>
                <a:latin typeface="Book Antiqua"/>
              </a:rPr>
              <a:t>Objetivo: original  →  adaptado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463040"/>
            <a:ext cx="5090007" cy="3429000"/>
          </a:xfrm>
          <a:prstGeom prst="rect">
            <a:avLst/>
          </a:prstGeom>
          <a:solidFill>
            <a:srgbClr val="FFFFFF"/>
          </a:solidFill>
          <a:ln w="9525">
            <a:solidFill>
              <a:srgbClr val="D3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1463040"/>
            <a:ext cx="5090007" cy="91440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1755648"/>
            <a:ext cx="4541367" cy="2880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200" b="1" i="0">
                <a:solidFill>
                  <a:srgbClr val="595959"/>
                </a:solidFill>
                <a:latin typeface="Book Antiqua"/>
              </a:rPr>
              <a:t>ORIGINAL — PLANO A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203864"/>
                </a:solidFill>
                <a:latin typeface="Book Antiqua"/>
              </a:rPr>
              <a:t>Otimizador multiobjetivo completo</a:t>
            </a:r>
          </a:p>
          <a:p>
            <a:pPr>
              <a:spcBef>
                <a:spcPts val="0"/>
              </a:spcBef>
              <a:spcAft>
                <a:spcPts val="800"/>
              </a:spcAft>
            </a:pPr>
            <a:r>
              <a:rPr sz="1350" b="1" i="0">
                <a:solidFill>
                  <a:srgbClr val="9A9A9A"/>
                </a:solidFill>
                <a:latin typeface="Book Antiqua"/>
              </a:rPr>
              <a:t>•  </a:t>
            </a:r>
            <a:r>
              <a:rPr sz="1350" b="0" i="0">
                <a:solidFill>
                  <a:srgbClr val="404040"/>
                </a:solidFill>
                <a:latin typeface="Book Antiqua"/>
              </a:rPr>
              <a:t>Três objetivos concorrentes (frente de Pareto):</a:t>
            </a:r>
          </a:p>
          <a:p>
            <a:pPr>
              <a:spcBef>
                <a:spcPts val="0"/>
              </a:spcBef>
              <a:spcAft>
                <a:spcPts val="800"/>
              </a:spcAft>
            </a:pPr>
            <a:r>
              <a:rPr sz="1350" b="1" i="0">
                <a:solidFill>
                  <a:srgbClr val="9A9A9A"/>
                </a:solidFill>
                <a:latin typeface="Book Antiqua"/>
              </a:rPr>
              <a:t>•  </a:t>
            </a:r>
            <a:r>
              <a:rPr sz="1350" b="0" i="0">
                <a:solidFill>
                  <a:srgbClr val="404040"/>
                </a:solidFill>
                <a:latin typeface="Book Antiqua"/>
              </a:rPr>
              <a:t>Maximizar HLY (Anos de Vida Saudáveis).</a:t>
            </a:r>
          </a:p>
          <a:p>
            <a:pPr>
              <a:spcBef>
                <a:spcPts val="0"/>
              </a:spcBef>
              <a:spcAft>
                <a:spcPts val="800"/>
              </a:spcAft>
            </a:pPr>
            <a:r>
              <a:rPr sz="1350" b="1" i="0">
                <a:solidFill>
                  <a:srgbClr val="9A9A9A"/>
                </a:solidFill>
                <a:latin typeface="Book Antiqua"/>
              </a:rPr>
              <a:t>•  </a:t>
            </a:r>
            <a:r>
              <a:rPr sz="1350" b="0" i="0">
                <a:solidFill>
                  <a:srgbClr val="404040"/>
                </a:solidFill>
                <a:latin typeface="Book Antiqua"/>
              </a:rPr>
              <a:t>Minimizar o custo da política pública.</a:t>
            </a:r>
          </a:p>
          <a:p>
            <a:pPr>
              <a:spcBef>
                <a:spcPts val="0"/>
              </a:spcBef>
              <a:spcAft>
                <a:spcPts val="800"/>
              </a:spcAft>
            </a:pPr>
            <a:r>
              <a:rPr sz="1350" b="1" i="0">
                <a:solidFill>
                  <a:srgbClr val="9A9A9A"/>
                </a:solidFill>
                <a:latin typeface="Book Antiqua"/>
              </a:rPr>
              <a:t>•  </a:t>
            </a:r>
            <a:r>
              <a:rPr sz="1350" b="0" i="0">
                <a:solidFill>
                  <a:srgbClr val="404040"/>
                </a:solidFill>
                <a:latin typeface="Book Antiqua"/>
              </a:rPr>
              <a:t>Maximizar a equidade regional entre municípios.</a:t>
            </a:r>
          </a:p>
          <a:p>
            <a:pPr>
              <a:spcBef>
                <a:spcPts val="0"/>
              </a:spcBef>
              <a:spcAft>
                <a:spcPts val="800"/>
              </a:spcAft>
            </a:pPr>
            <a:r>
              <a:rPr sz="1350" b="1" i="0">
                <a:solidFill>
                  <a:srgbClr val="9A9A9A"/>
                </a:solidFill>
                <a:latin typeface="Book Antiqua"/>
              </a:rPr>
              <a:t>•  </a:t>
            </a:r>
            <a:r>
              <a:rPr sz="1350" b="0" i="0">
                <a:solidFill>
                  <a:srgbClr val="404040"/>
                </a:solidFill>
                <a:latin typeface="Book Antiqua"/>
              </a:rPr>
              <a:t>Baselines: MOPSO + NSGA-II.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730087" y="2766060"/>
            <a:ext cx="7315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4000" b="1" i="0">
                <a:solidFill>
                  <a:srgbClr val="41719C"/>
                </a:solidFill>
                <a:latin typeface="Book Antiqua"/>
              </a:rPr>
              <a:t>→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98767" y="1463040"/>
            <a:ext cx="5090007" cy="3429000"/>
          </a:xfrm>
          <a:prstGeom prst="rect">
            <a:avLst/>
          </a:prstGeom>
          <a:solidFill>
            <a:srgbClr val="F1F4F8"/>
          </a:solidFill>
          <a:ln w="15875">
            <a:solidFill>
              <a:srgbClr val="20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598767" y="1463040"/>
            <a:ext cx="5090007" cy="91440"/>
          </a:xfrm>
          <a:prstGeom prst="rect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73087" y="1755648"/>
            <a:ext cx="4541367" cy="2880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200" b="1" i="0">
                <a:solidFill>
                  <a:srgbClr val="203864"/>
                </a:solidFill>
                <a:latin typeface="Book Antiqua"/>
              </a:rPr>
              <a:t>ADAPTADO — PLANO B  (entregável real)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203864"/>
                </a:solidFill>
                <a:latin typeface="Book Antiqua"/>
              </a:rPr>
              <a:t>PSO acha o perfil do indivíduo ideal</a:t>
            </a:r>
          </a:p>
          <a:p>
            <a:pPr>
              <a:spcBef>
                <a:spcPts val="0"/>
              </a:spcBef>
              <a:spcAft>
                <a:spcPts val="800"/>
              </a:spcAft>
            </a:pPr>
            <a:r>
              <a:rPr sz="1350" b="1" i="0">
                <a:solidFill>
                  <a:srgbClr val="203864"/>
                </a:solidFill>
                <a:latin typeface="Book Antiqua"/>
              </a:rPr>
              <a:t>•  </a:t>
            </a:r>
            <a:r>
              <a:rPr sz="1350" b="0" i="0">
                <a:solidFill>
                  <a:srgbClr val="404040"/>
                </a:solidFill>
                <a:latin typeface="Book Antiqua"/>
              </a:rPr>
              <a:t>PSO otimiza os pesos de uma regressão logística.</a:t>
            </a:r>
          </a:p>
          <a:p>
            <a:pPr>
              <a:spcBef>
                <a:spcPts val="0"/>
              </a:spcBef>
              <a:spcAft>
                <a:spcPts val="800"/>
              </a:spcAft>
            </a:pPr>
            <a:r>
              <a:rPr sz="1350" b="1" i="0">
                <a:solidFill>
                  <a:srgbClr val="203864"/>
                </a:solidFill>
                <a:latin typeface="Book Antiqua"/>
              </a:rPr>
              <a:t>•  </a:t>
            </a:r>
            <a:r>
              <a:rPr sz="1350" b="0" i="0">
                <a:solidFill>
                  <a:srgbClr val="404040"/>
                </a:solidFill>
                <a:latin typeface="Book Antiqua"/>
              </a:rPr>
              <a:t>Variável-alvo: Wellness (proxy de HLY).</a:t>
            </a:r>
          </a:p>
          <a:p>
            <a:pPr>
              <a:spcBef>
                <a:spcPts val="0"/>
              </a:spcBef>
              <a:spcAft>
                <a:spcPts val="800"/>
              </a:spcAft>
            </a:pPr>
            <a:r>
              <a:rPr sz="1350" b="1" i="0">
                <a:solidFill>
                  <a:srgbClr val="203864"/>
                </a:solidFill>
                <a:latin typeface="Book Antiqua"/>
              </a:rPr>
              <a:t>•  </a:t>
            </a:r>
            <a:r>
              <a:rPr sz="1350" b="0" i="0">
                <a:solidFill>
                  <a:srgbClr val="404040"/>
                </a:solidFill>
                <a:latin typeface="Book Antiqua"/>
              </a:rPr>
              <a:t>Validar contra a solução analítica do scikit-learn.</a:t>
            </a:r>
          </a:p>
          <a:p>
            <a:pPr>
              <a:spcBef>
                <a:spcPts val="0"/>
              </a:spcBef>
              <a:spcAft>
                <a:spcPts val="800"/>
              </a:spcAft>
            </a:pPr>
            <a:r>
              <a:rPr sz="1350" b="1" i="0">
                <a:solidFill>
                  <a:srgbClr val="203864"/>
                </a:solidFill>
                <a:latin typeface="Book Antiqua"/>
              </a:rPr>
              <a:t>•  </a:t>
            </a:r>
            <a:r>
              <a:rPr sz="1350" b="0" i="0">
                <a:solidFill>
                  <a:srgbClr val="404040"/>
                </a:solidFill>
                <a:latin typeface="Book Antiqua"/>
              </a:rPr>
              <a:t>Extrair o perfil clínico interpretável dos pesos.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5038344"/>
            <a:ext cx="1118585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 i="1">
                <a:solidFill>
                  <a:srgbClr val="595959"/>
                </a:solidFill>
                <a:latin typeface="Book Antiqua"/>
              </a:rPr>
              <a:t>Honestidade metodológica: a base é testbed; o entregável é o otimizador. Coorte única (China, 2012), que não distingue T1D/T2D.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eader_r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31175" y="109728"/>
            <a:ext cx="4160520" cy="650081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274320" y="6236208"/>
            <a:ext cx="11643055" cy="17780"/>
          </a:xfrm>
          <a:prstGeom prst="rect">
            <a:avLst/>
          </a:prstGeom>
          <a:solidFill>
            <a:srgbClr val="417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ooter_lef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6291072"/>
            <a:ext cx="1065929" cy="5486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783080" y="6355080"/>
            <a:ext cx="749807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03864"/>
                </a:solidFill>
                <a:latin typeface="Book Antiqua"/>
              </a:rPr>
              <a:t>COURSE: Computação Natural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03864"/>
                </a:solidFill>
                <a:latin typeface="Book Antiqua"/>
              </a:rPr>
              <a:t>CLASS: Equipe 4  -  TOPIC: Otimizador Bioinspirado (Plano B)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23015" y="6364224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203864"/>
                </a:solidFill>
                <a:latin typeface="Book Antiqua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384048"/>
            <a:ext cx="731520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700" b="1" i="0">
                <a:solidFill>
                  <a:srgbClr val="203864"/>
                </a:solidFill>
                <a:latin typeface="Book Antiqua"/>
              </a:rPr>
              <a:t>A variável dependente: Wellness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463040"/>
            <a:ext cx="6264078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203864"/>
                </a:solidFill>
                <a:latin typeface="Book Antiqua"/>
              </a:rPr>
              <a:t>Por que não um rótulo clínico direto?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450" b="1" i="0">
                <a:solidFill>
                  <a:srgbClr val="203864"/>
                </a:solidFill>
                <a:latin typeface="Book Antiqua"/>
              </a:rPr>
              <a:t>•  </a:t>
            </a:r>
            <a:r>
              <a:rPr sz="1450" b="0" i="0">
                <a:solidFill>
                  <a:srgbClr val="404040"/>
                </a:solidFill>
                <a:latin typeface="Book Antiqua"/>
              </a:rPr>
              <a:t>A base não possui rótulo 'saudável vs. doente'.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450" b="1" i="0">
                <a:solidFill>
                  <a:srgbClr val="203864"/>
                </a:solidFill>
                <a:latin typeface="Book Antiqua"/>
              </a:rPr>
              <a:t>•  </a:t>
            </a:r>
            <a:r>
              <a:rPr sz="1450" b="0" i="0">
                <a:solidFill>
                  <a:srgbClr val="404040"/>
                </a:solidFill>
                <a:latin typeface="Book Antiqua"/>
              </a:rPr>
              <a:t>É um snapshot transversal, sem trajetória longitudinal.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450" b="1" i="0">
                <a:solidFill>
                  <a:srgbClr val="203864"/>
                </a:solidFill>
                <a:latin typeface="Book Antiqua"/>
              </a:rPr>
              <a:t>•  </a:t>
            </a:r>
            <a:r>
              <a:rPr sz="1450" b="0" i="0">
                <a:solidFill>
                  <a:srgbClr val="404040"/>
                </a:solidFill>
                <a:latin typeface="Book Antiqua"/>
              </a:rPr>
              <a:t>Wellness é construído a partir de variáveis objetivas da coorte.</a:t>
            </a:r>
          </a:p>
          <a:p>
            <a:pPr algn="l">
              <a:spcBef>
                <a:spcPts val="800"/>
              </a:spcBef>
              <a:spcAft>
                <a:spcPts val="600"/>
              </a:spcAft>
            </a:pPr>
            <a:r>
              <a:rPr sz="1500" b="1" i="0">
                <a:solidFill>
                  <a:srgbClr val="203864"/>
                </a:solidFill>
                <a:latin typeface="Book Antiqua"/>
              </a:rPr>
              <a:t>Conexão com HLY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04040"/>
                </a:solidFill>
                <a:latin typeface="Book Antiqua"/>
              </a:rPr>
              <a:t>Ausência de complicações + controle metabólico = pilares que sustentam os Anos de Vida Saudáveis.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4206240"/>
            <a:ext cx="6264078" cy="868680"/>
          </a:xfrm>
          <a:prstGeom prst="rect">
            <a:avLst/>
          </a:prstGeom>
          <a:solidFill>
            <a:srgbClr val="F1F4F8"/>
          </a:solidFill>
          <a:ln w="9525">
            <a:solidFill>
              <a:srgbClr val="D3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4325112"/>
            <a:ext cx="5715438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595959"/>
                </a:solidFill>
                <a:latin typeface="Book Antiqua"/>
              </a:rPr>
              <a:t>Wellness  =  terço superior de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203864"/>
                </a:solidFill>
                <a:latin typeface="Book Antiqua"/>
              </a:rPr>
              <a:t>z(idade) − z(HbA1c) − z(n.º de comorbidades)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224198" y="1463040"/>
            <a:ext cx="4464576" cy="2743200"/>
          </a:xfrm>
          <a:prstGeom prst="rect">
            <a:avLst/>
          </a:prstGeom>
          <a:solidFill>
            <a:srgbClr val="FFFFFF"/>
          </a:solidFill>
          <a:ln w="9525">
            <a:solidFill>
              <a:srgbClr val="D3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224198" y="1463040"/>
            <a:ext cx="4464576" cy="502920"/>
          </a:xfrm>
          <a:prstGeom prst="rect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24198" y="1572768"/>
            <a:ext cx="44645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FFFFFF"/>
                </a:solidFill>
                <a:latin typeface="Book Antiqua"/>
              </a:rPr>
              <a:t>Grupos  (filtro DM == 1)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518" y="2121408"/>
            <a:ext cx="3184416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404040"/>
                </a:solidFill>
                <a:latin typeface="Book Antiqua"/>
              </a:rPr>
              <a:t>Indivíduos ideais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1">
                <a:solidFill>
                  <a:srgbClr val="595959"/>
                </a:solidFill>
                <a:latin typeface="Book Antiqua"/>
              </a:rPr>
              <a:t>terço superior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91495" y="2103120"/>
            <a:ext cx="914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203864"/>
                </a:solidFill>
                <a:latin typeface="Book Antiqua"/>
              </a:rPr>
              <a:t>119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518" y="2779776"/>
            <a:ext cx="3184416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404040"/>
                </a:solidFill>
                <a:latin typeface="Book Antiqua"/>
              </a:rPr>
              <a:t>Demais diabéticos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91495" y="2761488"/>
            <a:ext cx="914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203864"/>
                </a:solidFill>
                <a:latin typeface="Book Antiqua"/>
              </a:rPr>
              <a:t>238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407078" y="3438144"/>
            <a:ext cx="4098816" cy="12700"/>
          </a:xfrm>
          <a:prstGeom prst="rect">
            <a:avLst/>
          </a:prstGeom>
          <a:solidFill>
            <a:srgbClr val="D3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98518" y="3511296"/>
            <a:ext cx="3184416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404040"/>
                </a:solidFill>
                <a:latin typeface="Book Antiqua"/>
              </a:rPr>
              <a:t>Total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91495" y="3493008"/>
            <a:ext cx="914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203864"/>
                </a:solidFill>
                <a:latin typeface="Book Antiqua"/>
              </a:rPr>
              <a:t>357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eader_r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31175" y="109728"/>
            <a:ext cx="4160520" cy="650081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274320" y="6236208"/>
            <a:ext cx="11643055" cy="17780"/>
          </a:xfrm>
          <a:prstGeom prst="rect">
            <a:avLst/>
          </a:prstGeom>
          <a:solidFill>
            <a:srgbClr val="417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ooter_lef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6291072"/>
            <a:ext cx="1065929" cy="5486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783080" y="6355080"/>
            <a:ext cx="749807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03864"/>
                </a:solidFill>
                <a:latin typeface="Book Antiqua"/>
              </a:rPr>
              <a:t>COURSE: Computação Natural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03864"/>
                </a:solidFill>
                <a:latin typeface="Book Antiqua"/>
              </a:rPr>
              <a:t>CLASS: Equipe 4  -  TOPIC: Otimizador Bioinspirado (Plano B)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23015" y="6364224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203864"/>
                </a:solidFill>
                <a:latin typeface="Book Antiqua"/>
              </a:rPr>
              <a:t>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384048"/>
            <a:ext cx="731520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700" b="1" i="0">
                <a:solidFill>
                  <a:srgbClr val="203864"/>
                </a:solidFill>
                <a:latin typeface="Book Antiqua"/>
              </a:rPr>
              <a:t>Passo a passo da solução (Plano B)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188720"/>
            <a:ext cx="1118585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50" b="0" i="1">
                <a:solidFill>
                  <a:srgbClr val="595959"/>
                </a:solidFill>
                <a:latin typeface="Book Antiqua"/>
              </a:rPr>
              <a:t>Da base bruta ao perfil do indivíduo ideal — 9 etapas reprodutíveis.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691640"/>
            <a:ext cx="3484778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41719C"/>
                </a:solidFill>
                <a:latin typeface="Book Antiqua"/>
              </a:rPr>
              <a:t>PREPARAÇÃO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2148840"/>
            <a:ext cx="3484778" cy="1024128"/>
          </a:xfrm>
          <a:prstGeom prst="rect">
            <a:avLst/>
          </a:prstGeom>
          <a:solidFill>
            <a:srgbClr val="F1F4F8"/>
          </a:solidFill>
          <a:ln w="9525">
            <a:solidFill>
              <a:srgbClr val="D3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2148840"/>
            <a:ext cx="91440" cy="1024128"/>
          </a:xfrm>
          <a:prstGeom prst="rect">
            <a:avLst/>
          </a:prstGeom>
          <a:solidFill>
            <a:srgbClr val="417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58952" y="2432304"/>
            <a:ext cx="457200" cy="457200"/>
          </a:xfrm>
          <a:prstGeom prst="ellipse">
            <a:avLst/>
          </a:prstGeom>
          <a:solidFill>
            <a:srgbClr val="417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58952" y="2514600"/>
            <a:ext cx="457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Book Antiqua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1600" y="2331720"/>
            <a:ext cx="2478938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203864"/>
                </a:solidFill>
                <a:latin typeface="Book Antiqua"/>
              </a:rPr>
              <a:t>Carregar &amp; filtrar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95959"/>
                </a:solidFill>
                <a:latin typeface="Book Antiqua"/>
              </a:rPr>
              <a:t>CSV 5.922×190 → DM==1 → 357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3264408"/>
            <a:ext cx="3484778" cy="1024128"/>
          </a:xfrm>
          <a:prstGeom prst="rect">
            <a:avLst/>
          </a:prstGeom>
          <a:solidFill>
            <a:srgbClr val="F1F4F8"/>
          </a:solidFill>
          <a:ln w="9525">
            <a:solidFill>
              <a:srgbClr val="D3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02920" y="3264408"/>
            <a:ext cx="91440" cy="1024128"/>
          </a:xfrm>
          <a:prstGeom prst="rect">
            <a:avLst/>
          </a:prstGeom>
          <a:solidFill>
            <a:srgbClr val="417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58952" y="3547872"/>
            <a:ext cx="457200" cy="457200"/>
          </a:xfrm>
          <a:prstGeom prst="ellipse">
            <a:avLst/>
          </a:prstGeom>
          <a:solidFill>
            <a:srgbClr val="417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58952" y="3630168"/>
            <a:ext cx="457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Book Antiqua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447288"/>
            <a:ext cx="2478938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203864"/>
                </a:solidFill>
                <a:latin typeface="Book Antiqua"/>
              </a:rPr>
              <a:t>Construir Wellness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95959"/>
                </a:solidFill>
                <a:latin typeface="Book Antiqua"/>
              </a:rPr>
              <a:t>rótulo 0/1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4379976"/>
            <a:ext cx="3484778" cy="1024128"/>
          </a:xfrm>
          <a:prstGeom prst="rect">
            <a:avLst/>
          </a:prstGeom>
          <a:solidFill>
            <a:srgbClr val="F1F4F8"/>
          </a:solidFill>
          <a:ln w="9525">
            <a:solidFill>
              <a:srgbClr val="D3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02920" y="4379976"/>
            <a:ext cx="91440" cy="1024128"/>
          </a:xfrm>
          <a:prstGeom prst="rect">
            <a:avLst/>
          </a:prstGeom>
          <a:solidFill>
            <a:srgbClr val="417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58952" y="4663440"/>
            <a:ext cx="457200" cy="457200"/>
          </a:xfrm>
          <a:prstGeom prst="ellipse">
            <a:avLst/>
          </a:prstGeom>
          <a:solidFill>
            <a:srgbClr val="417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58952" y="4745736"/>
            <a:ext cx="457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Book Antiqua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71600" y="4562856"/>
            <a:ext cx="2478938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203864"/>
                </a:solidFill>
                <a:latin typeface="Book Antiqua"/>
              </a:rPr>
              <a:t>Selecionar 26 features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95959"/>
                </a:solidFill>
                <a:latin typeface="Book Antiqua"/>
              </a:rPr>
              <a:t>imputar mediana; z-score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53458" y="1691640"/>
            <a:ext cx="3484778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203864"/>
                </a:solidFill>
                <a:latin typeface="Book Antiqua"/>
              </a:rPr>
              <a:t>OTIMIZAÇÃO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353458" y="2148840"/>
            <a:ext cx="3484778" cy="1024128"/>
          </a:xfrm>
          <a:prstGeom prst="rect">
            <a:avLst/>
          </a:prstGeom>
          <a:solidFill>
            <a:srgbClr val="F1F4F8"/>
          </a:solidFill>
          <a:ln w="9525">
            <a:solidFill>
              <a:srgbClr val="D3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353458" y="2148840"/>
            <a:ext cx="91440" cy="1024128"/>
          </a:xfrm>
          <a:prstGeom prst="rect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4609490" y="2432304"/>
            <a:ext cx="457200" cy="457200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609490" y="2514600"/>
            <a:ext cx="457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Book Antiqua"/>
              </a:rPr>
              <a:t>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222138" y="2331720"/>
            <a:ext cx="2478938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203864"/>
                </a:solidFill>
                <a:latin typeface="Book Antiqua"/>
              </a:rPr>
              <a:t>Função de fitness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95959"/>
                </a:solidFill>
                <a:latin typeface="Book Antiqua"/>
              </a:rPr>
              <a:t>−(log-loss + L2)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53458" y="3264408"/>
            <a:ext cx="3484778" cy="1024128"/>
          </a:xfrm>
          <a:prstGeom prst="rect">
            <a:avLst/>
          </a:prstGeom>
          <a:solidFill>
            <a:srgbClr val="F1F4F8"/>
          </a:solidFill>
          <a:ln w="9525">
            <a:solidFill>
              <a:srgbClr val="D3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353458" y="3264408"/>
            <a:ext cx="91440" cy="1024128"/>
          </a:xfrm>
          <a:prstGeom prst="rect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4609490" y="3547872"/>
            <a:ext cx="457200" cy="457200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609490" y="3630168"/>
            <a:ext cx="457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Book Antiqua"/>
              </a:rPr>
              <a:t>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222138" y="3447288"/>
            <a:ext cx="2478938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203864"/>
                </a:solidFill>
                <a:latin typeface="Book Antiqua"/>
              </a:rPr>
              <a:t>Executar PSO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95959"/>
                </a:solidFill>
                <a:latin typeface="Book Antiqua"/>
              </a:rPr>
              <a:t>27D; w=0,7; c1=c2=1,5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353458" y="4379976"/>
            <a:ext cx="3484778" cy="1024128"/>
          </a:xfrm>
          <a:prstGeom prst="rect">
            <a:avLst/>
          </a:prstGeom>
          <a:solidFill>
            <a:srgbClr val="F1F4F8"/>
          </a:solidFill>
          <a:ln w="9525">
            <a:solidFill>
              <a:srgbClr val="D3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4353458" y="4379976"/>
            <a:ext cx="91440" cy="1024128"/>
          </a:xfrm>
          <a:prstGeom prst="rect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4609490" y="4663440"/>
            <a:ext cx="457200" cy="457200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609490" y="4745736"/>
            <a:ext cx="457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Book Antiqua"/>
              </a:rPr>
              <a:t>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222138" y="4562856"/>
            <a:ext cx="2478938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203864"/>
                </a:solidFill>
                <a:latin typeface="Book Antiqua"/>
              </a:rPr>
              <a:t>Validar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95959"/>
                </a:solidFill>
                <a:latin typeface="Book Antiqua"/>
              </a:rPr>
              <a:t>cosseno PSO × sklearn = 1,000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203996" y="1691640"/>
            <a:ext cx="3484778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2E6B4F"/>
                </a:solidFill>
                <a:latin typeface="Book Antiqua"/>
              </a:rPr>
              <a:t>INTERPRETAÇÃO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203996" y="2148840"/>
            <a:ext cx="3484778" cy="1024128"/>
          </a:xfrm>
          <a:prstGeom prst="rect">
            <a:avLst/>
          </a:prstGeom>
          <a:solidFill>
            <a:srgbClr val="F1F4F8"/>
          </a:solidFill>
          <a:ln w="9525">
            <a:solidFill>
              <a:srgbClr val="D3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8203996" y="2148840"/>
            <a:ext cx="91440" cy="1024128"/>
          </a:xfrm>
          <a:prstGeom prst="rect">
            <a:avLst/>
          </a:prstGeom>
          <a:solidFill>
            <a:srgbClr val="2E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8460028" y="2432304"/>
            <a:ext cx="457200" cy="457200"/>
          </a:xfrm>
          <a:prstGeom prst="ellipse">
            <a:avLst/>
          </a:prstGeom>
          <a:solidFill>
            <a:srgbClr val="2E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460028" y="2514600"/>
            <a:ext cx="457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Book Antiqua"/>
              </a:rPr>
              <a:t>7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072676" y="2331720"/>
            <a:ext cx="2478938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203864"/>
                </a:solidFill>
                <a:latin typeface="Book Antiqua"/>
              </a:rPr>
              <a:t>Meta-FSS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95959"/>
                </a:solidFill>
                <a:latin typeface="Book Antiqua"/>
              </a:rPr>
              <a:t>hiperparâm.; AUC cross-val</a:t>
            </a:r>
          </a:p>
        </p:txBody>
      </p:sp>
      <p:sp>
        <p:nvSpPr>
          <p:cNvPr id="48" name="Rectangle 47"/>
          <p:cNvSpPr/>
          <p:nvPr/>
        </p:nvSpPr>
        <p:spPr>
          <a:xfrm>
            <a:off x="8203996" y="3264408"/>
            <a:ext cx="3484778" cy="1024128"/>
          </a:xfrm>
          <a:prstGeom prst="rect">
            <a:avLst/>
          </a:prstGeom>
          <a:solidFill>
            <a:srgbClr val="F1F4F8"/>
          </a:solidFill>
          <a:ln w="9525">
            <a:solidFill>
              <a:srgbClr val="D3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8203996" y="3264408"/>
            <a:ext cx="91440" cy="1024128"/>
          </a:xfrm>
          <a:prstGeom prst="rect">
            <a:avLst/>
          </a:prstGeom>
          <a:solidFill>
            <a:srgbClr val="2E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8460028" y="3547872"/>
            <a:ext cx="457200" cy="457200"/>
          </a:xfrm>
          <a:prstGeom prst="ellipse">
            <a:avLst/>
          </a:prstGeom>
          <a:solidFill>
            <a:srgbClr val="2E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460028" y="3630168"/>
            <a:ext cx="457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Book Antiqua"/>
              </a:rPr>
              <a:t>8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072676" y="3447288"/>
            <a:ext cx="2478938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203864"/>
                </a:solidFill>
                <a:latin typeface="Book Antiqua"/>
              </a:rPr>
              <a:t>Perfil do ideal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95959"/>
                </a:solidFill>
                <a:latin typeface="Book Antiqua"/>
              </a:rPr>
              <a:t>rank por |peso|; sinal = direção</a:t>
            </a:r>
          </a:p>
        </p:txBody>
      </p:sp>
      <p:sp>
        <p:nvSpPr>
          <p:cNvPr id="53" name="Rectangle 52"/>
          <p:cNvSpPr/>
          <p:nvPr/>
        </p:nvSpPr>
        <p:spPr>
          <a:xfrm>
            <a:off x="8203996" y="4379976"/>
            <a:ext cx="3484778" cy="1024128"/>
          </a:xfrm>
          <a:prstGeom prst="rect">
            <a:avLst/>
          </a:prstGeom>
          <a:solidFill>
            <a:srgbClr val="F1F4F8"/>
          </a:solidFill>
          <a:ln w="9525">
            <a:solidFill>
              <a:srgbClr val="D3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8203996" y="4379976"/>
            <a:ext cx="91440" cy="1024128"/>
          </a:xfrm>
          <a:prstGeom prst="rect">
            <a:avLst/>
          </a:prstGeom>
          <a:solidFill>
            <a:srgbClr val="2E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8460028" y="4663440"/>
            <a:ext cx="457200" cy="457200"/>
          </a:xfrm>
          <a:prstGeom prst="ellipse">
            <a:avLst/>
          </a:prstGeom>
          <a:solidFill>
            <a:srgbClr val="2E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8460028" y="4745736"/>
            <a:ext cx="457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Book Antiqua"/>
              </a:rPr>
              <a:t>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072676" y="4562856"/>
            <a:ext cx="2478938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203864"/>
                </a:solidFill>
                <a:latin typeface="Book Antiqua"/>
              </a:rPr>
              <a:t>Visualizar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95959"/>
                </a:solidFill>
                <a:latin typeface="Book Antiqua"/>
              </a:rPr>
              <a:t>HTML, 3 abas, enxame animado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eader_r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31175" y="109728"/>
            <a:ext cx="4160520" cy="650081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274320" y="6236208"/>
            <a:ext cx="11643055" cy="17780"/>
          </a:xfrm>
          <a:prstGeom prst="rect">
            <a:avLst/>
          </a:prstGeom>
          <a:solidFill>
            <a:srgbClr val="417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ooter_lef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6291072"/>
            <a:ext cx="1065929" cy="5486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783080" y="6355080"/>
            <a:ext cx="749807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03864"/>
                </a:solidFill>
                <a:latin typeface="Book Antiqua"/>
              </a:rPr>
              <a:t>COURSE: Computação Natural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03864"/>
                </a:solidFill>
                <a:latin typeface="Book Antiqua"/>
              </a:rPr>
              <a:t>CLASS: Equipe 4  -  TOPIC: Otimizador Bioinspirado (Plano B)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23015" y="6364224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203864"/>
                </a:solidFill>
                <a:latin typeface="Book Antiqua"/>
              </a:rPr>
              <a:t>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384048"/>
            <a:ext cx="731520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700" b="1" i="0">
                <a:solidFill>
                  <a:srgbClr val="203864"/>
                </a:solidFill>
                <a:latin typeface="Book Antiqua"/>
              </a:rPr>
              <a:t>Por que PSO (enxame) e não algoritmo evolucionário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417320"/>
            <a:ext cx="5364327" cy="2011680"/>
          </a:xfrm>
          <a:prstGeom prst="rect">
            <a:avLst/>
          </a:prstGeom>
          <a:solidFill>
            <a:srgbClr val="F1F4F8"/>
          </a:solidFill>
          <a:ln w="9525">
            <a:solidFill>
              <a:srgbClr val="D3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1417320"/>
            <a:ext cx="91440" cy="2011680"/>
          </a:xfrm>
          <a:prstGeom prst="rect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1645920"/>
            <a:ext cx="4769967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650" b="1" i="0">
                <a:solidFill>
                  <a:srgbClr val="203864"/>
                </a:solidFill>
                <a:latin typeface="Book Antiqua"/>
              </a:rPr>
              <a:t>Terreno do problema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404040"/>
                </a:solidFill>
                <a:latin typeface="Book Antiqua"/>
              </a:rPr>
              <a:t>Os pesos vivem em espaço contínuo de alta dimensão (27D) e a perda é convexa. O PSO desliza no contínuo com momento e converge rápido para o ótimo. GAs exigem crossover/mutação, menos intuitivos para pesos reais.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24447" y="1417320"/>
            <a:ext cx="5364327" cy="2011680"/>
          </a:xfrm>
          <a:prstGeom prst="rect">
            <a:avLst/>
          </a:prstGeom>
          <a:solidFill>
            <a:srgbClr val="F1F4F8"/>
          </a:solidFill>
          <a:ln w="9525">
            <a:solidFill>
              <a:srgbClr val="D3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24447" y="1417320"/>
            <a:ext cx="91440" cy="2011680"/>
          </a:xfrm>
          <a:prstGeom prst="rect">
            <a:avLst/>
          </a:prstGeom>
          <a:solidFill>
            <a:srgbClr val="417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44487" y="1645920"/>
            <a:ext cx="4769967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650" b="1" i="0">
                <a:solidFill>
                  <a:srgbClr val="41719C"/>
                </a:solidFill>
                <a:latin typeface="Book Antiqua"/>
              </a:rPr>
              <a:t>Alinhamento com o enunciado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404040"/>
                </a:solidFill>
                <a:latin typeface="Book Antiqua"/>
              </a:rPr>
              <a:t>A disciplina avalia Inteligência de Enxames. PSO é o algoritmo canônico, e a família FSS é o fio condutor do projeto.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3703320"/>
            <a:ext cx="5364327" cy="2011680"/>
          </a:xfrm>
          <a:prstGeom prst="rect">
            <a:avLst/>
          </a:prstGeom>
          <a:solidFill>
            <a:srgbClr val="F1F4F8"/>
          </a:solidFill>
          <a:ln w="9525">
            <a:solidFill>
              <a:srgbClr val="D3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02920" y="3703320"/>
            <a:ext cx="91440" cy="2011680"/>
          </a:xfrm>
          <a:prstGeom prst="rect">
            <a:avLst/>
          </a:prstGeom>
          <a:solidFill>
            <a:srgbClr val="417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3931920"/>
            <a:ext cx="4769967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650" b="1" i="0">
                <a:solidFill>
                  <a:srgbClr val="41719C"/>
                </a:solidFill>
                <a:latin typeface="Book Antiqua"/>
              </a:rPr>
              <a:t>Interpretabilidade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404040"/>
                </a:solidFill>
                <a:latin typeface="Book Antiqua"/>
              </a:rPr>
              <a:t>O PSO entrega direto um vetor de pesos: magnitude = importância, sinal = direção clínica. Um genoma binário de GA obscureceria isso.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24447" y="3703320"/>
            <a:ext cx="5364327" cy="2011680"/>
          </a:xfrm>
          <a:prstGeom prst="rect">
            <a:avLst/>
          </a:prstGeom>
          <a:solidFill>
            <a:srgbClr val="F1F4F8"/>
          </a:solidFill>
          <a:ln w="9525">
            <a:solidFill>
              <a:srgbClr val="D3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324447" y="3703320"/>
            <a:ext cx="91440" cy="2011680"/>
          </a:xfrm>
          <a:prstGeom prst="rect">
            <a:avLst/>
          </a:prstGeom>
          <a:solidFill>
            <a:srgbClr val="2E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44487" y="3931920"/>
            <a:ext cx="4769967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650" b="1" i="0">
                <a:solidFill>
                  <a:srgbClr val="2E6B4F"/>
                </a:solidFill>
                <a:latin typeface="Book Antiqua"/>
              </a:rPr>
              <a:t>Validação elegante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404040"/>
                </a:solidFill>
                <a:latin typeface="Book Antiqua"/>
              </a:rPr>
              <a:t>Em problema convexo existe ótimo conhecido — dá para provar que o otimizador chegou nele (cosseno = 1,000). Demonstração limpa e didática.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eader_r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31175" y="109728"/>
            <a:ext cx="4160520" cy="650081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274320" y="6236208"/>
            <a:ext cx="11643055" cy="17780"/>
          </a:xfrm>
          <a:prstGeom prst="rect">
            <a:avLst/>
          </a:prstGeom>
          <a:solidFill>
            <a:srgbClr val="417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ooter_lef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6291072"/>
            <a:ext cx="1065929" cy="5486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783080" y="6355080"/>
            <a:ext cx="749807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03864"/>
                </a:solidFill>
                <a:latin typeface="Book Antiqua"/>
              </a:rPr>
              <a:t>COURSE: Computação Natural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03864"/>
                </a:solidFill>
                <a:latin typeface="Book Antiqua"/>
              </a:rPr>
              <a:t>CLASS: Equipe 4  -  TOPIC: Otimizador Bioinspirado (Plano B)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23015" y="6364224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203864"/>
                </a:solidFill>
                <a:latin typeface="Book Antiqua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384048"/>
            <a:ext cx="731520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700" b="1" i="0">
                <a:solidFill>
                  <a:srgbClr val="203864"/>
                </a:solidFill>
                <a:latin typeface="Book Antiqua"/>
              </a:rPr>
              <a:t>O otimizador acha o ótimo conhecido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508760"/>
            <a:ext cx="4698059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D3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655064"/>
            <a:ext cx="332645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595959"/>
                </a:solidFill>
                <a:latin typeface="Book Antiqua"/>
              </a:rPr>
              <a:t>AUC treino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20819" y="1581912"/>
            <a:ext cx="10972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595959"/>
                </a:solidFill>
                <a:latin typeface="Book Antiqua"/>
              </a:rPr>
              <a:t>0,820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2240280"/>
            <a:ext cx="4698059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D3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2386584"/>
            <a:ext cx="332645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404040"/>
                </a:solidFill>
                <a:latin typeface="Book Antiqua"/>
              </a:rPr>
              <a:t>AUC teste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20819" y="2313432"/>
            <a:ext cx="10972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404040"/>
                </a:solidFill>
                <a:latin typeface="Book Antiqua"/>
              </a:rPr>
              <a:t>0,664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2971800"/>
            <a:ext cx="4698059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D3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3118104"/>
            <a:ext cx="332645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404040"/>
                </a:solidFill>
                <a:latin typeface="Book Antiqua"/>
              </a:rPr>
              <a:t>AUC sklearn (baseline)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920819" y="3044952"/>
            <a:ext cx="10972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404040"/>
                </a:solidFill>
                <a:latin typeface="Book Antiqua"/>
              </a:rPr>
              <a:t>0,664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749040"/>
            <a:ext cx="4698059" cy="1188720"/>
          </a:xfrm>
          <a:prstGeom prst="rect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3931920"/>
            <a:ext cx="4240859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CDD7E3"/>
                </a:solidFill>
                <a:latin typeface="Book Antiqua"/>
              </a:rPr>
              <a:t>Cosseno(pesos PSO, sklearn)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800" b="1" i="0">
                <a:solidFill>
                  <a:srgbClr val="FFFFFF"/>
                </a:solidFill>
                <a:latin typeface="Book Antiqua"/>
              </a:rPr>
              <a:t>1,000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58179" y="1463040"/>
            <a:ext cx="6030595" cy="3200400"/>
          </a:xfrm>
          <a:prstGeom prst="rect">
            <a:avLst/>
          </a:prstGeom>
          <a:solidFill>
            <a:srgbClr val="FFFFFF"/>
          </a:solidFill>
          <a:ln w="9525">
            <a:solidFill>
              <a:srgbClr val="D3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resultados_convergencia_ps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95339" y="1600200"/>
            <a:ext cx="5756275" cy="3289301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502920" y="5074920"/>
            <a:ext cx="11185855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1">
                <a:solidFill>
                  <a:srgbClr val="595959"/>
                </a:solidFill>
                <a:latin typeface="Book Antiqua"/>
              </a:rPr>
              <a:t>O AUC mede a dificuldade do problema; o cosseno prova o otimizador. Para uma demonstração de validação, o PSO num problema convexo é limpo e didático: encontra EXATAMENTE a mesma solução que o otimizador analítico.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eader_r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31175" y="109728"/>
            <a:ext cx="4160520" cy="650081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274320" y="6236208"/>
            <a:ext cx="11643055" cy="17780"/>
          </a:xfrm>
          <a:prstGeom prst="rect">
            <a:avLst/>
          </a:prstGeom>
          <a:solidFill>
            <a:srgbClr val="417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ooter_lef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6291072"/>
            <a:ext cx="1065929" cy="5486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783080" y="6355080"/>
            <a:ext cx="749807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03864"/>
                </a:solidFill>
                <a:latin typeface="Book Antiqua"/>
              </a:rPr>
              <a:t>COURSE: Computação Natural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03864"/>
                </a:solidFill>
                <a:latin typeface="Book Antiqua"/>
              </a:rPr>
              <a:t>CLASS: Equipe 4  -  TOPIC: Otimizador Bioinspirado (Plano B)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23015" y="6364224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203864"/>
                </a:solidFill>
                <a:latin typeface="Book Antiqua"/>
              </a:rP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384048"/>
            <a:ext cx="731520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700" b="1" i="0">
                <a:solidFill>
                  <a:srgbClr val="203864"/>
                </a:solidFill>
                <a:latin typeface="Book Antiqua"/>
              </a:rPr>
              <a:t>O ganho: o perfil do indivíduo ideal</a:t>
            </a:r>
          </a:p>
        </p:txBody>
      </p:sp>
      <p:sp>
        <p:nvSpPr>
          <p:cNvPr id="9" name="Rectangle 8"/>
          <p:cNvSpPr/>
          <p:nvPr/>
        </p:nvSpPr>
        <p:spPr>
          <a:xfrm>
            <a:off x="6095847" y="1417320"/>
            <a:ext cx="5592927" cy="4297680"/>
          </a:xfrm>
          <a:prstGeom prst="rect">
            <a:avLst/>
          </a:prstGeom>
          <a:solidFill>
            <a:srgbClr val="FFFFFF"/>
          </a:solidFill>
          <a:ln w="9525">
            <a:solidFill>
              <a:srgbClr val="D3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resultados_importanci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45351" y="1554480"/>
            <a:ext cx="4693920" cy="40233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02920" y="1463040"/>
            <a:ext cx="5135727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203864"/>
                </a:solidFill>
                <a:latin typeface="Book Antiqua"/>
              </a:rPr>
              <a:t>Top características (peso do PSO)</a:t>
            </a:r>
          </a:p>
          <a:p>
            <a:pPr>
              <a:spcBef>
                <a:spcPts val="0"/>
              </a:spcBef>
              <a:spcAft>
                <a:spcPts val="700"/>
              </a:spcAft>
            </a:pPr>
            <a:r>
              <a:rPr sz="1350" b="1" i="0">
                <a:solidFill>
                  <a:srgbClr val="203864"/>
                </a:solidFill>
                <a:latin typeface="Book Antiqua"/>
              </a:rPr>
              <a:t>•  </a:t>
            </a:r>
            <a:r>
              <a:rPr sz="1350" b="0" i="0">
                <a:solidFill>
                  <a:srgbClr val="404040"/>
                </a:solidFill>
                <a:latin typeface="Book Antiqua"/>
              </a:rPr>
              <a:t>CP2h +0,338  ·  BMI −0,304  ·  BUN +0,240</a:t>
            </a:r>
          </a:p>
          <a:p>
            <a:pPr>
              <a:spcBef>
                <a:spcPts val="0"/>
              </a:spcBef>
              <a:spcAft>
                <a:spcPts val="700"/>
              </a:spcAft>
            </a:pPr>
            <a:r>
              <a:rPr sz="1350" b="1" i="0">
                <a:solidFill>
                  <a:srgbClr val="203864"/>
                </a:solidFill>
                <a:latin typeface="Book Antiqua"/>
              </a:rPr>
              <a:t>•  </a:t>
            </a:r>
            <a:r>
              <a:rPr sz="1350" b="0" i="0">
                <a:solidFill>
                  <a:srgbClr val="404040"/>
                </a:solidFill>
                <a:latin typeface="Book Antiqua"/>
              </a:rPr>
              <a:t>waist1 −0,232  ·  ISIGutt −0,212  ·  WHR −0,193</a:t>
            </a:r>
          </a:p>
          <a:p>
            <a:pPr>
              <a:spcBef>
                <a:spcPts val="0"/>
              </a:spcBef>
              <a:spcAft>
                <a:spcPts val="700"/>
              </a:spcAft>
            </a:pPr>
            <a:r>
              <a:rPr sz="1350" b="1" i="0">
                <a:solidFill>
                  <a:srgbClr val="203864"/>
                </a:solidFill>
                <a:latin typeface="Book Antiqua"/>
              </a:rPr>
              <a:t>•  </a:t>
            </a:r>
            <a:r>
              <a:rPr sz="1350" b="0" i="0">
                <a:solidFill>
                  <a:srgbClr val="404040"/>
                </a:solidFill>
                <a:latin typeface="Book Antiqua"/>
              </a:rPr>
              <a:t>SCRE +0,162  ·  ALT −0,134  ·  FatherDM −0,119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3063240"/>
            <a:ext cx="5135727" cy="1417320"/>
          </a:xfrm>
          <a:prstGeom prst="rect">
            <a:avLst/>
          </a:prstGeom>
          <a:solidFill>
            <a:srgbClr val="F1F4F8"/>
          </a:solidFill>
          <a:ln w="12700">
            <a:solidFill>
              <a:srgbClr val="20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3227832"/>
            <a:ext cx="4678527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400" b="1" i="0">
                <a:solidFill>
                  <a:srgbClr val="203864"/>
                </a:solidFill>
                <a:latin typeface="Book Antiqua"/>
              </a:rPr>
              <a:t>Perfil-síntese do diabético ideal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404040"/>
                </a:solidFill>
                <a:latin typeface="Book Antiqua"/>
              </a:rPr>
              <a:t>Mais magro, com menor resistência à insulina, função hepática preservada (ALT) e sem histórico familiar de DM.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4709160"/>
            <a:ext cx="5135727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595959"/>
                </a:solidFill>
                <a:latin typeface="Book Antiqua"/>
              </a:rPr>
              <a:t>Médias (ideais vs demais):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404040"/>
                </a:solidFill>
                <a:latin typeface="Book Antiqua"/>
              </a:rPr>
              <a:t>BMI 21,4 vs 24,8   ·   ISIGutt 57,3 vs 104,8   ·   ALT 33,4 vs 45,7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eader_r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31175" y="109728"/>
            <a:ext cx="4160520" cy="650081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274320" y="6236208"/>
            <a:ext cx="11643055" cy="17780"/>
          </a:xfrm>
          <a:prstGeom prst="rect">
            <a:avLst/>
          </a:prstGeom>
          <a:solidFill>
            <a:srgbClr val="417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ooter_lef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6291072"/>
            <a:ext cx="1065929" cy="5486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783080" y="6355080"/>
            <a:ext cx="749807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03864"/>
                </a:solidFill>
                <a:latin typeface="Book Antiqua"/>
              </a:rPr>
              <a:t>COURSE: Computação Natural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03864"/>
                </a:solidFill>
                <a:latin typeface="Book Antiqua"/>
              </a:rPr>
              <a:t>CLASS: Equipe 4  -  TOPIC: Otimizador Bioinspirado (Plano B)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23015" y="6364224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203864"/>
                </a:solidFill>
                <a:latin typeface="Book Antiqua"/>
              </a:rPr>
              <a:t>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384048"/>
            <a:ext cx="731520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700" b="1" i="0">
                <a:solidFill>
                  <a:srgbClr val="203864"/>
                </a:solidFill>
                <a:latin typeface="Book Antiqua"/>
              </a:rPr>
              <a:t>Meta-FSS — o enxame que ajusta o enxame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188720"/>
            <a:ext cx="1118585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50" b="0" i="1">
                <a:solidFill>
                  <a:srgbClr val="595959"/>
                </a:solidFill>
                <a:latin typeface="Book Antiqua"/>
              </a:rPr>
              <a:t>FSS (Fish School Search) otimiza os hiperparâmetros do PSO — meta-otimização em dois níveis.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691640"/>
            <a:ext cx="3423818" cy="914400"/>
          </a:xfrm>
          <a:prstGeom prst="roundRect">
            <a:avLst/>
          </a:prstGeom>
          <a:solidFill>
            <a:srgbClr val="F1F4F8"/>
          </a:solidFill>
          <a:ln w="12700">
            <a:solidFill>
              <a:srgbClr val="20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691640"/>
            <a:ext cx="91440" cy="914400"/>
          </a:xfrm>
          <a:prstGeom prst="rect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95528" y="1874520"/>
            <a:ext cx="2966618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203864"/>
                </a:solidFill>
                <a:latin typeface="Book Antiqua"/>
              </a:rPr>
              <a:t>FSS — meta-nível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95959"/>
                </a:solidFill>
                <a:latin typeface="Book Antiqua"/>
              </a:rPr>
              <a:t>ajusta w, c1, c2, λ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63314" y="1911096"/>
            <a:ext cx="38404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595959"/>
                </a:solidFill>
                <a:latin typeface="Book Antiqua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83938" y="1691640"/>
            <a:ext cx="3423818" cy="914400"/>
          </a:xfrm>
          <a:prstGeom prst="roundRect">
            <a:avLst/>
          </a:prstGeom>
          <a:solidFill>
            <a:srgbClr val="F1F4F8"/>
          </a:solidFill>
          <a:ln w="12700">
            <a:solidFill>
              <a:srgbClr val="4171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83938" y="1691640"/>
            <a:ext cx="91440" cy="914400"/>
          </a:xfrm>
          <a:prstGeom prst="rect">
            <a:avLst/>
          </a:prstGeom>
          <a:solidFill>
            <a:srgbClr val="417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76546" y="1874520"/>
            <a:ext cx="2966618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203864"/>
                </a:solidFill>
                <a:latin typeface="Book Antiqua"/>
              </a:rPr>
              <a:t>PSO — nível 1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95959"/>
                </a:solidFill>
                <a:latin typeface="Book Antiqua"/>
              </a:rPr>
              <a:t>otimiza os pesos do modelo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44332" y="1911096"/>
            <a:ext cx="38404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595959"/>
                </a:solidFill>
                <a:latin typeface="Book Antiqua"/>
              </a:rPr>
              <a:t>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64956" y="1691640"/>
            <a:ext cx="3423818" cy="914400"/>
          </a:xfrm>
          <a:prstGeom prst="roundRect">
            <a:avLst/>
          </a:prstGeom>
          <a:solidFill>
            <a:srgbClr val="F1F4F8"/>
          </a:solidFill>
          <a:ln w="12700">
            <a:solidFill>
              <a:srgbClr val="2E6B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264956" y="1691640"/>
            <a:ext cx="91440" cy="914400"/>
          </a:xfrm>
          <a:prstGeom prst="rect">
            <a:avLst/>
          </a:prstGeom>
          <a:solidFill>
            <a:srgbClr val="2E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57564" y="1874520"/>
            <a:ext cx="2966618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203864"/>
                </a:solidFill>
                <a:latin typeface="Book Antiqua"/>
              </a:rPr>
              <a:t>Regressão logística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95959"/>
                </a:solidFill>
                <a:latin typeface="Book Antiqua"/>
              </a:rPr>
              <a:t>classifica o Wellness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2971800"/>
            <a:ext cx="5145493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450" b="1" i="0">
                <a:solidFill>
                  <a:srgbClr val="203864"/>
                </a:solidFill>
                <a:latin typeface="Book Antiqua"/>
              </a:rPr>
              <a:t>Hiperparâmetros encontrados pelo FSS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350" b="1" i="0">
                <a:solidFill>
                  <a:srgbClr val="203864"/>
                </a:solidFill>
                <a:latin typeface="Book Antiqua"/>
              </a:rPr>
              <a:t>•  </a:t>
            </a:r>
            <a:r>
              <a:rPr sz="1350" b="0" i="0">
                <a:solidFill>
                  <a:srgbClr val="404040"/>
                </a:solidFill>
                <a:latin typeface="Book Antiqua"/>
              </a:rPr>
              <a:t>w = 0,67  ·  c1 = 0,74  ·  c2 = 0,59  ·  λ = 0,016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350" b="1" i="0">
                <a:solidFill>
                  <a:srgbClr val="203864"/>
                </a:solidFill>
                <a:latin typeface="Book Antiqua"/>
              </a:rPr>
              <a:t>•  </a:t>
            </a:r>
            <a:r>
              <a:rPr sz="1350" b="0" i="0">
                <a:solidFill>
                  <a:srgbClr val="404040"/>
                </a:solidFill>
                <a:latin typeface="Book Antiqua"/>
              </a:rPr>
              <a:t>AUC teste: 0,678 (meta)  vs  0,664 (padrão)  →  +0,014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350" b="1" i="0">
                <a:solidFill>
                  <a:srgbClr val="203864"/>
                </a:solidFill>
                <a:latin typeface="Book Antiqua"/>
              </a:rPr>
              <a:t>•  </a:t>
            </a:r>
            <a:r>
              <a:rPr sz="1350" b="0" i="0">
                <a:solidFill>
                  <a:srgbClr val="404040"/>
                </a:solidFill>
                <a:latin typeface="Book Antiqua"/>
              </a:rPr>
              <a:t>Avaliação por CV-3 no treino (sem tocar no teste).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05613" y="2880360"/>
            <a:ext cx="5583161" cy="2194560"/>
          </a:xfrm>
          <a:prstGeom prst="rect">
            <a:avLst/>
          </a:prstGeom>
          <a:solidFill>
            <a:srgbClr val="FFFFFF"/>
          </a:solidFill>
          <a:ln w="9525">
            <a:solidFill>
              <a:srgbClr val="D3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resultados_comparacao_convergenci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76979" y="3017520"/>
            <a:ext cx="3440430" cy="1965960"/>
          </a:xfrm>
          <a:prstGeom prst="rect">
            <a:avLst/>
          </a:prstGeom>
        </p:spPr>
      </p:pic>
      <p:sp>
        <p:nvSpPr>
          <p:cNvPr id="24" name="Rectangle 23"/>
          <p:cNvSpPr/>
          <p:nvPr/>
        </p:nvSpPr>
        <p:spPr>
          <a:xfrm>
            <a:off x="502920" y="5257800"/>
            <a:ext cx="11185855" cy="749808"/>
          </a:xfrm>
          <a:prstGeom prst="rect">
            <a:avLst/>
          </a:prstGeom>
          <a:solidFill>
            <a:srgbClr val="F1F4F8"/>
          </a:solidFill>
          <a:ln w="12700">
            <a:solidFill>
              <a:srgbClr val="4171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7240" y="5367528"/>
            <a:ext cx="10637215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 i="1">
                <a:solidFill>
                  <a:srgbClr val="404040"/>
                </a:solidFill>
                <a:latin typeface="Book Antiqua"/>
              </a:rPr>
              <a:t>Leitura honesta: o ganho (+0,014) está dentro do ruído da estimativa (IC ≈ 0,68 ± 0,15) e parte vem do afrouxamento do L2. O ponto não é o número — é mostrar a família FSS governando o PSO.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eader_r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31175" y="109728"/>
            <a:ext cx="4160520" cy="650081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274320" y="6236208"/>
            <a:ext cx="11643055" cy="17780"/>
          </a:xfrm>
          <a:prstGeom prst="rect">
            <a:avLst/>
          </a:prstGeom>
          <a:solidFill>
            <a:srgbClr val="417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ooter_lef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6291072"/>
            <a:ext cx="1065929" cy="5486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783080" y="6355080"/>
            <a:ext cx="749807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03864"/>
                </a:solidFill>
                <a:latin typeface="Book Antiqua"/>
              </a:rPr>
              <a:t>COURSE: Computação Natural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03864"/>
                </a:solidFill>
                <a:latin typeface="Book Antiqua"/>
              </a:rPr>
              <a:t>CLASS: Equipe 4  -  TOPIC: Otimizador Bioinspirado (Plano B)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23015" y="6364224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203864"/>
                </a:solidFill>
                <a:latin typeface="Book Antiqua"/>
              </a:rPr>
              <a:t>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384048"/>
            <a:ext cx="731520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700" b="1" i="0">
                <a:solidFill>
                  <a:srgbClr val="203864"/>
                </a:solidFill>
                <a:latin typeface="Book Antiqua"/>
              </a:rPr>
              <a:t>BFSS, de relance — o plano principal segue vivo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554480"/>
            <a:ext cx="6487795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203864"/>
                </a:solidFill>
                <a:latin typeface="Book Antiqua"/>
              </a:rPr>
              <a:t>Validação por marcadores plantados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450" b="1" i="0">
                <a:solidFill>
                  <a:srgbClr val="203864"/>
                </a:solidFill>
                <a:latin typeface="Book Antiqua"/>
              </a:rPr>
              <a:t>•  </a:t>
            </a:r>
            <a:r>
              <a:rPr sz="1450" b="0" i="0">
                <a:solidFill>
                  <a:srgbClr val="404040"/>
                </a:solidFill>
                <a:latin typeface="Book Antiqua"/>
              </a:rPr>
              <a:t>Base sintética com gabarito (verdade-base plantada).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450" b="1" i="0">
                <a:solidFill>
                  <a:srgbClr val="203864"/>
                </a:solidFill>
                <a:latin typeface="Book Antiqua"/>
              </a:rPr>
              <a:t>•  </a:t>
            </a:r>
            <a:r>
              <a:rPr sz="1450" b="0" i="0">
                <a:solidFill>
                  <a:srgbClr val="404040"/>
                </a:solidFill>
                <a:latin typeface="Book Antiqua"/>
              </a:rPr>
              <a:t>Prova ALGORÍTMICA de que o otimizador recupera o sinal — não é alegação clínica.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450" b="1" i="0">
                <a:solidFill>
                  <a:srgbClr val="203864"/>
                </a:solidFill>
                <a:latin typeface="Book Antiqua"/>
              </a:rPr>
              <a:t>•  </a:t>
            </a:r>
            <a:r>
              <a:rPr sz="1450" b="0" i="0">
                <a:solidFill>
                  <a:srgbClr val="404040"/>
                </a:solidFill>
                <a:latin typeface="Book Antiqua"/>
              </a:rPr>
              <a:t>Mantém a família de enxame (FSS) como fio condutor do projeto.</a:t>
            </a:r>
          </a:p>
          <a:p>
            <a:pPr algn="l">
              <a:spcBef>
                <a:spcPts val="600"/>
              </a:spcBef>
              <a:spcAft>
                <a:spcPts val="0"/>
              </a:spcAft>
            </a:pPr>
            <a:r>
              <a:rPr sz="1400" b="0" i="1">
                <a:solidFill>
                  <a:srgbClr val="595959"/>
                </a:solidFill>
                <a:latin typeface="Book Antiqua"/>
              </a:rPr>
              <a:t>Próximo: MOPSO discreto + NSGA-II para a frente de Pareto.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438150" y="1554480"/>
            <a:ext cx="4250624" cy="1783080"/>
          </a:xfrm>
          <a:prstGeom prst="rect">
            <a:avLst/>
          </a:prstGeom>
          <a:solidFill>
            <a:srgbClr val="F1F4F8"/>
          </a:solidFill>
          <a:ln w="9525">
            <a:solidFill>
              <a:srgbClr val="D3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438150" y="1554480"/>
            <a:ext cx="4250624" cy="82296"/>
          </a:xfrm>
          <a:prstGeom prst="rect">
            <a:avLst/>
          </a:prstGeom>
          <a:solidFill>
            <a:srgbClr val="2E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12470" y="1783080"/>
            <a:ext cx="3701984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595959"/>
                </a:solidFill>
                <a:latin typeface="Book Antiqua"/>
              </a:rPr>
              <a:t>STATUS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2E6B4F"/>
                </a:solidFill>
                <a:latin typeface="Book Antiqua"/>
              </a:rPr>
              <a:t>BFSS validado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404040"/>
                </a:solidFill>
                <a:latin typeface="Book Antiqua"/>
              </a:rPr>
              <a:t>Recuperou 8 de 9 marcadores plantados; o subconjunto selecionado eleva o R².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eader_r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31175" y="109728"/>
            <a:ext cx="4160520" cy="650081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274320" y="6236208"/>
            <a:ext cx="11643055" cy="17780"/>
          </a:xfrm>
          <a:prstGeom prst="rect">
            <a:avLst/>
          </a:prstGeom>
          <a:solidFill>
            <a:srgbClr val="417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ooter_lef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6291072"/>
            <a:ext cx="1065929" cy="5486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783080" y="6355080"/>
            <a:ext cx="749807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03864"/>
                </a:solidFill>
                <a:latin typeface="Book Antiqua"/>
              </a:rPr>
              <a:t>COURSE: Computação Natural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03864"/>
                </a:solidFill>
                <a:latin typeface="Book Antiqua"/>
              </a:rPr>
              <a:t>CLASS: Equipe 4  -  TOPIC: Otimizador Bioinspirado (Plano B)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23015" y="6364224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203864"/>
                </a:solidFill>
                <a:latin typeface="Book Antiqua"/>
              </a:rPr>
              <a:t>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384048"/>
            <a:ext cx="731520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700" b="1" i="0">
                <a:solidFill>
                  <a:srgbClr val="203864"/>
                </a:solidFill>
                <a:latin typeface="Book Antiqua"/>
              </a:rPr>
              <a:t>Limitações declaradas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508760"/>
            <a:ext cx="5364327" cy="1143000"/>
          </a:xfrm>
          <a:prstGeom prst="rect">
            <a:avLst/>
          </a:prstGeom>
          <a:solidFill>
            <a:srgbClr val="F1F4F8"/>
          </a:solidFill>
          <a:ln w="9525">
            <a:solidFill>
              <a:srgbClr val="D3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1508760"/>
            <a:ext cx="82296" cy="1143000"/>
          </a:xfrm>
          <a:prstGeom prst="rect">
            <a:avLst/>
          </a:prstGeom>
          <a:solidFill>
            <a:srgbClr val="417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1709928"/>
            <a:ext cx="4861407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50" b="0" i="0">
                <a:solidFill>
                  <a:srgbClr val="404040"/>
                </a:solidFill>
                <a:latin typeface="Book Antiqua"/>
              </a:rPr>
              <a:t>A base não distingue T1D/T2D → 'diabetes tipo não especificado'; é testbed, não evidência clínica.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24447" y="1508760"/>
            <a:ext cx="5364327" cy="1143000"/>
          </a:xfrm>
          <a:prstGeom prst="rect">
            <a:avLst/>
          </a:prstGeom>
          <a:solidFill>
            <a:srgbClr val="F1F4F8"/>
          </a:solidFill>
          <a:ln w="9525">
            <a:solidFill>
              <a:srgbClr val="D3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24447" y="1508760"/>
            <a:ext cx="82296" cy="1143000"/>
          </a:xfrm>
          <a:prstGeom prst="rect">
            <a:avLst/>
          </a:prstGeom>
          <a:solidFill>
            <a:srgbClr val="417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98767" y="1709928"/>
            <a:ext cx="4861407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50" b="0" i="0">
                <a:solidFill>
                  <a:srgbClr val="404040"/>
                </a:solidFill>
                <a:latin typeface="Book Antiqua"/>
              </a:rPr>
              <a:t>Coorte única e transversal (China, 2012) → fala de associação, não de causalidade.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2834640"/>
            <a:ext cx="5364327" cy="1143000"/>
          </a:xfrm>
          <a:prstGeom prst="rect">
            <a:avLst/>
          </a:prstGeom>
          <a:solidFill>
            <a:srgbClr val="F1F4F8"/>
          </a:solidFill>
          <a:ln w="9525">
            <a:solidFill>
              <a:srgbClr val="D3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02920" y="2834640"/>
            <a:ext cx="82296" cy="1143000"/>
          </a:xfrm>
          <a:prstGeom prst="rect">
            <a:avLst/>
          </a:prstGeom>
          <a:solidFill>
            <a:srgbClr val="417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3035808"/>
            <a:ext cx="4861407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50" b="0" i="0">
                <a:solidFill>
                  <a:srgbClr val="404040"/>
                </a:solidFill>
                <a:latin typeface="Book Antiqua"/>
              </a:rPr>
              <a:t>O rótulo 'ideal' é uma escolha de projeto defensável, não a única.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24447" y="2834640"/>
            <a:ext cx="5364327" cy="1143000"/>
          </a:xfrm>
          <a:prstGeom prst="rect">
            <a:avLst/>
          </a:prstGeom>
          <a:solidFill>
            <a:srgbClr val="F1F4F8"/>
          </a:solidFill>
          <a:ln w="9525">
            <a:solidFill>
              <a:srgbClr val="D3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324447" y="2834640"/>
            <a:ext cx="82296" cy="1143000"/>
          </a:xfrm>
          <a:prstGeom prst="rect">
            <a:avLst/>
          </a:prstGeom>
          <a:solidFill>
            <a:srgbClr val="417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98767" y="3035808"/>
            <a:ext cx="4861407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50" b="0" i="0">
                <a:solidFill>
                  <a:srgbClr val="404040"/>
                </a:solidFill>
                <a:latin typeface="Book Antiqua"/>
              </a:rPr>
              <a:t>As 26 preditoras foram curadas à mão → podem ter omitido pistas relevantes.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4160520"/>
            <a:ext cx="5364327" cy="1143000"/>
          </a:xfrm>
          <a:prstGeom prst="rect">
            <a:avLst/>
          </a:prstGeom>
          <a:solidFill>
            <a:srgbClr val="F1F4F8"/>
          </a:solidFill>
          <a:ln w="9525">
            <a:solidFill>
              <a:srgbClr val="D3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02920" y="4160520"/>
            <a:ext cx="82296" cy="1143000"/>
          </a:xfrm>
          <a:prstGeom prst="rect">
            <a:avLst/>
          </a:prstGeom>
          <a:solidFill>
            <a:srgbClr val="417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4361688"/>
            <a:ext cx="4861407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50" b="0" i="0">
                <a:solidFill>
                  <a:srgbClr val="404040"/>
                </a:solidFill>
                <a:latin typeface="Book Antiqua"/>
              </a:rPr>
              <a:t>Imputação pela mediana 'achata' a variação; o corte do terço (33%) é limiar arbitrário.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324447" y="4160520"/>
            <a:ext cx="5364327" cy="1143000"/>
          </a:xfrm>
          <a:prstGeom prst="rect">
            <a:avLst/>
          </a:prstGeom>
          <a:solidFill>
            <a:srgbClr val="F1F4F8"/>
          </a:solidFill>
          <a:ln w="9525">
            <a:solidFill>
              <a:srgbClr val="D3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324447" y="4160520"/>
            <a:ext cx="82296" cy="1143000"/>
          </a:xfrm>
          <a:prstGeom prst="rect">
            <a:avLst/>
          </a:prstGeom>
          <a:solidFill>
            <a:srgbClr val="417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98767" y="4361688"/>
            <a:ext cx="4861407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50" b="0" i="0">
                <a:solidFill>
                  <a:srgbClr val="404040"/>
                </a:solidFill>
                <a:latin typeface="Book Antiqua"/>
              </a:rPr>
              <a:t>L2 (λ=0,05) calibrado empiricamente, não por cross-validation formal.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eader_r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31175" y="109728"/>
            <a:ext cx="4160520" cy="650081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274320" y="6236208"/>
            <a:ext cx="11643055" cy="17780"/>
          </a:xfrm>
          <a:prstGeom prst="rect">
            <a:avLst/>
          </a:prstGeom>
          <a:solidFill>
            <a:srgbClr val="417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ooter_lef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6291072"/>
            <a:ext cx="1065929" cy="5486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783080" y="6355080"/>
            <a:ext cx="749807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03864"/>
                </a:solidFill>
                <a:latin typeface="Book Antiqua"/>
              </a:rPr>
              <a:t>COURSE: Computação Natural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03864"/>
                </a:solidFill>
                <a:latin typeface="Book Antiqua"/>
              </a:rPr>
              <a:t>CLASS: Equipe 4  -  TOPIC: Otimizador Bioinspirado (Plano B)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23015" y="6364224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203864"/>
                </a:solidFill>
                <a:latin typeface="Book Antiqua"/>
              </a:rPr>
              <a:t>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384048"/>
            <a:ext cx="731520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700" b="1" i="0">
                <a:solidFill>
                  <a:srgbClr val="203864"/>
                </a:solidFill>
                <a:latin typeface="Book Antiqua"/>
              </a:rPr>
              <a:t>Próximos passos e conclusão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554480"/>
            <a:ext cx="2522143" cy="777240"/>
          </a:xfrm>
          <a:prstGeom prst="roundRect">
            <a:avLst/>
          </a:prstGeom>
          <a:solidFill>
            <a:srgbClr val="F1F4F8"/>
          </a:solidFill>
          <a:ln w="12700">
            <a:solidFill>
              <a:srgbClr val="2E6B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1792224"/>
            <a:ext cx="2522143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203864"/>
                </a:solidFill>
                <a:latin typeface="Book Antiqua"/>
              </a:rPr>
              <a:t>PSO (Plano B)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43351" y="1737360"/>
            <a:ext cx="329184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595959"/>
                </a:solidFill>
                <a:latin typeface="Book Antiqua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90823" y="1554480"/>
            <a:ext cx="2522143" cy="777240"/>
          </a:xfrm>
          <a:prstGeom prst="roundRect">
            <a:avLst/>
          </a:prstGeom>
          <a:solidFill>
            <a:srgbClr val="F1F4F8"/>
          </a:solidFill>
          <a:ln w="12700">
            <a:solidFill>
              <a:srgbClr val="2E6B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390823" y="1792224"/>
            <a:ext cx="2522143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203864"/>
                </a:solidFill>
                <a:latin typeface="Book Antiqua"/>
              </a:rPr>
              <a:t>BFSS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31255" y="1737360"/>
            <a:ext cx="329184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595959"/>
                </a:solidFill>
                <a:latin typeface="Book Antiqua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78727" y="1554480"/>
            <a:ext cx="2522143" cy="777240"/>
          </a:xfrm>
          <a:prstGeom prst="roundRect">
            <a:avLst/>
          </a:prstGeom>
          <a:solidFill>
            <a:srgbClr val="F1F4F8"/>
          </a:solidFill>
          <a:ln w="12700">
            <a:solidFill>
              <a:srgbClr val="4171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78727" y="1792224"/>
            <a:ext cx="2522143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203864"/>
                </a:solidFill>
                <a:latin typeface="Book Antiqua"/>
              </a:rPr>
              <a:t>Simulador HLY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19159" y="1737360"/>
            <a:ext cx="329184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595959"/>
                </a:solidFill>
                <a:latin typeface="Book Antiqua"/>
              </a:rPr>
              <a:t>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66631" y="1554480"/>
            <a:ext cx="2522143" cy="777240"/>
          </a:xfrm>
          <a:prstGeom prst="roundRect">
            <a:avLst/>
          </a:prstGeom>
          <a:solidFill>
            <a:srgbClr val="F1F4F8"/>
          </a:solidFill>
          <a:ln w="12700">
            <a:solidFill>
              <a:srgbClr val="B07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66631" y="1792224"/>
            <a:ext cx="2522143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203864"/>
                </a:solidFill>
                <a:latin typeface="Book Antiqua"/>
              </a:rPr>
              <a:t>MOPSO + NSGA-II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2788920"/>
            <a:ext cx="11185855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203864"/>
                </a:solidFill>
                <a:latin typeface="Book Antiqua"/>
              </a:rPr>
              <a:t>Próximo passo — frente de Pareto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404040"/>
                </a:solidFill>
                <a:latin typeface="Book Antiqua"/>
              </a:rPr>
              <a:t>MOPSO discreto + NSGA-II sobre ~540 políticas, com gabarito computável por enumeração (HLY × Custo × Equidade).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3977639"/>
            <a:ext cx="11185855" cy="1371600"/>
          </a:xfrm>
          <a:prstGeom prst="rect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68680" y="4251959"/>
            <a:ext cx="1045433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CDD7E3"/>
                </a:solidFill>
                <a:latin typeface="Book Antiqua"/>
              </a:rPr>
              <a:t>Conclusão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Book Antiqua"/>
              </a:rPr>
              <a:t>PSO validado (cosseno 1,000) + perfil clínico interpretável = o otimizador funciona. O Plano A continua como horizonte multiobjetivo.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