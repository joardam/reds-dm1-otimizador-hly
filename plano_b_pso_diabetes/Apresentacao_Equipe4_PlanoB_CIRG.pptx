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841248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1">
                <a:solidFill>
                  <a:srgbClr val="203864"/>
                </a:solidFill>
                <a:latin typeface="Palatino Linotype"/>
              </a:rPr>
              <a:t>At CIRG of POLI/UPE Nature insights nurture our creativity for real problem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6289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203864"/>
                </a:solidFill>
                <a:latin typeface="Palatino Linotype"/>
              </a:rPr>
              <a:t>Projeto REDS-DM1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03864"/>
                </a:solidFill>
                <a:latin typeface="Palatino Linotype"/>
              </a:rPr>
              <a:t>Otimizador Bioinspirado para Gestão de Saúde em Diabetes  ·  Plano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3628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95959"/>
                </a:solidFill>
                <a:latin typeface="Palatino Linotype"/>
              </a:rPr>
              <a:t>Pedro Henrique França  ·  Silas Nunes  ·  Jéssica Maria  ·  José Mario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95959"/>
                </a:solidFill>
                <a:latin typeface="Palatino Linotype"/>
              </a:rPr>
              <a:t>Prof. Dr. Fernando Buarque de Lima Neto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Mentoria: Rodrigo Amaro  ·  Allan Miller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Universidade de Pernambuco – UPE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Escola Politécnica de Pernambuco – POLI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Computational Intelligent Research Group – CIRG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6362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527048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Trajetória em 3 fases e redução de escopo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1401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377440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Objetivo adaptado e a variável Wellness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2644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27832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Passo a passo e por que PSO (enxame)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8496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78224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O ótimo conhecido, o perfil ideal e o Meta-FSS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18888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965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928616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Síntese executiva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Contexto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Financiamento: SUS / políticas públicas.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9010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Proposta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Horizonte: otimizar a alocação de recursos maximizando HLY.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3036" y="1554480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9068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Palatino Linotype"/>
              </a:rPr>
              <a:t>Resultado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Trajetória em três fases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Palatino Linotype"/>
              </a:rPr>
              <a:t>A redução de escopo foi decisão técnica, não recuo.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10637215" cy="254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3389" y="1783079"/>
            <a:ext cx="182880" cy="18288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40279"/>
            <a:ext cx="3423818" cy="8229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A9A9A"/>
                </a:solidFill>
                <a:latin typeface="Palatino Linotype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População errada (97% DM2)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Sem gabarito de validação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6004407" y="1783079"/>
            <a:ext cx="182880" cy="182880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240279"/>
            <a:ext cx="3423818" cy="82296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B07A2A"/>
                </a:solidFill>
                <a:latin typeface="Palatino Linotype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Base sintética com gabarito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BFSS validado aqui</a:t>
            </a:r>
          </a:p>
        </p:txBody>
      </p:sp>
      <p:sp>
        <p:nvSpPr>
          <p:cNvPr id="19" name="Oval 18"/>
          <p:cNvSpPr/>
          <p:nvPr/>
        </p:nvSpPr>
        <p:spPr>
          <a:xfrm>
            <a:off x="9885425" y="1783079"/>
            <a:ext cx="182880" cy="18288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4956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4956" y="2240279"/>
            <a:ext cx="3423818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2E6B4F"/>
                </a:solidFill>
                <a:latin typeface="Palatino Linotype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Foco da apresentação de hoje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Redução de escopo — status de cada 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5486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130-US + CTGAN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68535" y="1536192"/>
            <a:ext cx="1737360" cy="310896"/>
          </a:xfrm>
          <a:prstGeom prst="round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8535" y="15727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A9A9A"/>
                </a:solidFill>
                <a:latin typeface="Palatino Linotype"/>
              </a:rPr>
              <a:t>ABANDONADO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11185855" cy="548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4884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03864"/>
                </a:solidFill>
                <a:latin typeface="Palatino Linotype"/>
              </a:rPr>
              <a:t>PSO sobre coorte bimodal (Plano 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8535" y="2148840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8535" y="218541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42616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42616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61488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Meta-FSS (hiperparâmetros do PSO)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8535" y="2761488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8535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374136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Visualização HTML do PSO (3 abas)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8535" y="3374136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8535" y="34107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67912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3986784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Banco sintético de marcadores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68535" y="3986784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535" y="4023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CONCLUÍDO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05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59943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BFSS (seleção de variáveis)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8535" y="4599432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68535" y="463600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VALIDADO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93208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093208"/>
            <a:ext cx="82296" cy="5486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21208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MOPSO + NSGA-II (frente de Pareto)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68535" y="5212080"/>
            <a:ext cx="1737360" cy="310896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8535" y="5248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07A2A"/>
                </a:solidFill>
                <a:latin typeface="Palatino Linotype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Objetivo: original  →  adaptado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90007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090007" cy="914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95959"/>
                </a:solidFill>
                <a:latin typeface="Palatino Linotype"/>
              </a:rPr>
              <a:t>ORIGINAL — PLANO 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Três objetivos concorrentes (frente de Pareto):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Baselines: MOPSO + NSGA-II.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0087" y="27660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41719C"/>
                </a:solidFill>
                <a:latin typeface="Palatino Linotype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8767" y="1463040"/>
            <a:ext cx="5090007" cy="3429000"/>
          </a:xfrm>
          <a:prstGeom prst="rect">
            <a:avLst/>
          </a:prstGeom>
          <a:solidFill>
            <a:srgbClr val="F1F4F8"/>
          </a:solidFill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98767" y="1463040"/>
            <a:ext cx="5090007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3087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03864"/>
                </a:solidFill>
                <a:latin typeface="Palatino Linotype"/>
              </a:rPr>
              <a:t>ADAPTADO — PLANO B  (entregável real)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PSO otimiza os pesos de uma regressão logística.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Extrair o perfil clínico interpretável dos pesos.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3834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Palatino Linotype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A variável dependente: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26407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Por que não um rótulo clínico direto?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203864"/>
                </a:solidFill>
                <a:latin typeface="Palatino Linotype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06240"/>
            <a:ext cx="6264078" cy="868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25112"/>
            <a:ext cx="571543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Palatino Linotype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z(idade) − z(HbA1c) − z(n.º de comorbidades)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4198" y="1463040"/>
            <a:ext cx="446457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4198" y="1463040"/>
            <a:ext cx="4464576" cy="5029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198" y="1572768"/>
            <a:ext cx="44645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Palatino Linotype"/>
              </a:rPr>
              <a:t>Grupos  (filtro DM ==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518" y="2121408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Palatino Linotype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  <a:latin typeface="Palatino Linotype"/>
              </a:rPr>
              <a:t>terço superior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2103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518" y="277977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Palatino Linotype"/>
              </a:rPr>
              <a:t>Demais diabéticos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276148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238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7078" y="3438144"/>
            <a:ext cx="4098816" cy="127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518" y="351129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Palatino Linotype"/>
              </a:rPr>
              <a:t>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34930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Passo a passo da solução (Plano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Palatino Linotype"/>
              </a:rPr>
              <a:t>Da base bruta ao perfil do indivíduo ideal — 9 etapas reprodutíveis.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1719C"/>
                </a:solidFill>
                <a:latin typeface="Palatino Linotype"/>
              </a:rPr>
              <a:t>PREPARAÇÃO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432304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CSV 5.922×190 → DM==1 → 357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64408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547872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rótulo 0/1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9976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663440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imputar mediana; 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3458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03864"/>
                </a:solidFill>
                <a:latin typeface="Palatino Linotype"/>
              </a:rPr>
              <a:t>OTIMIZAÇÃO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3458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3458" y="2148840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9490" y="24323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9490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2138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−(log-loss + L2)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3458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53458" y="3264408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9490" y="354787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9490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138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27D; w=0,7; c1=c2=1,5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3458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3458" y="4379976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09490" y="466344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9490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2138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cosseno PSO × sklearn = 1,000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3996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Palatino Linotype"/>
              </a:rPr>
              <a:t>INTERPRETAÇÃO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3996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03996" y="2148840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60028" y="2432304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0028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2676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hiperparâm.; AUC cross-val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3996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03996" y="3264408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60028" y="3547872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0028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2676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rank por |peso|; sinal = direção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3996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03996" y="4379976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60028" y="4663440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28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2676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Por que PSO (enxame) e não algoritmo evolucionário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91440" cy="201168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03864"/>
                </a:solidFill>
                <a:latin typeface="Palatino Linotype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417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Palatino Linotype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Palatino Linotype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3703320"/>
            <a:ext cx="91440" cy="201168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Palatino Linotype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 otimizador acha o ótimo conhecido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506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Palatino Linotype"/>
              </a:rPr>
              <a:t>AUC treino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0819" y="15819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0,820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8658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AUC teste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0819" y="23134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Palatino Linotype"/>
              </a:rPr>
              <a:t>0,664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1810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AUC sklearn (baseline)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0819" y="304495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Palatino Linotype"/>
              </a:rPr>
              <a:t>0,664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40"/>
            <a:ext cx="4698059" cy="11887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42408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7E3"/>
                </a:solidFill>
                <a:latin typeface="Palatino Linotype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alatino Linotype"/>
              </a:rPr>
              <a:t>1,000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179" y="1463040"/>
            <a:ext cx="6030595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sultados_convergencia_p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339" y="1600200"/>
            <a:ext cx="5756275" cy="328930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507492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95959"/>
                </a:solidFill>
                <a:latin typeface="Palatino Linotype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 ganho: o perfil do indivíduo ideal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7" y="1417320"/>
            <a:ext cx="5592927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ultados_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351" y="1554480"/>
            <a:ext cx="469392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63040"/>
            <a:ext cx="51357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03864"/>
                </a:solidFill>
                <a:latin typeface="Palatino Linotype"/>
              </a:rPr>
              <a:t>Top características (peso do PSO)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SCRE +0,162  ·  ALT −0,134  ·  FatherDM −0,119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5135727" cy="1417320"/>
          </a:xfrm>
          <a:prstGeom prst="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513572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Palatino Linotype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Palatino Linotype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Meta-FSS — o enxame que ajusta o enxame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Palatino Linotype"/>
              </a:rPr>
              <a:t>FSS (Fish School Search) otimiza os hiperparâmetros do PSO — meta-otimização em dois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91440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ajusta w, c1, c2, 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3314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691640"/>
            <a:ext cx="91440" cy="9144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546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otimiza os pesos do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332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4956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4956" y="169164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7564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classifica o Wellness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514549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Hiperparâmetros encontrados pelo FSS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Avaliação por CV-3 no treino (sem tocar no teste).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5613" y="2880360"/>
            <a:ext cx="5583161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sultados_comparacao_conver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979" y="3017520"/>
            <a:ext cx="3440430" cy="19659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2920" y="5257800"/>
            <a:ext cx="11185855" cy="749808"/>
          </a:xfrm>
          <a:prstGeom prst="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675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404040"/>
                </a:solidFill>
                <a:latin typeface="Palatino Linotype"/>
              </a:rPr>
              <a:t>Leitura honesta: o ganho (+0,014) está dentro do ruído da estimativa (IC ≈ 0,68 ± 0,15) e parte vem do afrouxamento do L2. O ponto não é o número — é mostrar a família FSS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BFSS, de relance — o plano principal segue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877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Validação por marcadores plantados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Palatino Linotype"/>
              </a:rPr>
              <a:t>Próximo: MOPSO discreto + NSGA-II para a frente de Pareto.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38150" y="1554480"/>
            <a:ext cx="4250624" cy="17830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8150" y="1554480"/>
            <a:ext cx="4250624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2470" y="1783080"/>
            <a:ext cx="37019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Palatino Linotype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Palatino Linotype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Limitações declaradas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Coorte única e transversal (China, 2012) → fala de associação, não de causalidade.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 rótulo 'ideal' é uma escolha de projeto defensável, não a única.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8767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As 26 preditoras foram curadas à mão → podem ter omitido pistas relevantes.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Imputação pela mediana 'achata' a variação; o corte do terço (33%) é limiar arbitrário.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8767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55080"/>
            <a:ext cx="11911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Próximos passos e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PSO (Plano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351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BFSS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1255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Simulador 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159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6631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6631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MOPSO + NSGA-II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04040"/>
                </a:solidFill>
                <a:latin typeface="Palatino Linotype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85855" cy="13716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5195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7E3"/>
                </a:solidFill>
                <a:latin typeface="Palatino Linotype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alatino Linotype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